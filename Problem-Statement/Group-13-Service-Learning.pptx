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76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80" r:id="rId20"/>
    <p:sldId id="277" r:id="rId21"/>
    <p:sldId id="278" r:id="rId22"/>
    <p:sldId id="274" r:id="rId23"/>
    <p:sldId id="275" r:id="rId24"/>
  </p:sldIdLst>
  <p:sldSz cx="12192000" cy="6858000"/>
  <p:notesSz cx="6858000" cy="9144000"/>
  <p:embeddedFontLst>
    <p:embeddedFont>
      <p:font typeface="Aptos Narrow" panose="020B0004020202020204" pitchFamily="34" charset="0"/>
      <p:regular r:id="rId26"/>
      <p:bold r:id="rId27"/>
      <p:italic r:id="rId28"/>
      <p:boldItalic r:id="rId29"/>
    </p:embeddedFont>
    <p:embeddedFont>
      <p:font typeface="Arial Black" panose="020B0A04020102020204" pitchFamily="34" charset="0"/>
      <p:bold r:id="rId30"/>
    </p:embeddedFont>
    <p:embeddedFont>
      <p:font typeface="Fraunces"/>
      <p:bold r:id="rId31"/>
    </p:embeddedFont>
    <p:embeddedFont>
      <p:font typeface="JetBrains Mono"/>
      <p:bold r:id="rId32"/>
    </p:embeddedFont>
    <p:embeddedFont>
      <p:font typeface="MV Boli" panose="02000500030200090000" pitchFamily="2" charset="0"/>
      <p:regular r:id="rId33"/>
    </p:embeddedFont>
    <p:embeddedFont>
      <p:font typeface="Neue Haas Grotesk Text Pro" panose="020B0504020202020204" pitchFamily="34" charset="0"/>
      <p:regular r:id="rId34"/>
      <p:bold r:id="rId35"/>
      <p:italic r:id="rId36"/>
      <p:boldItalic r:id="rId37"/>
    </p:embeddedFont>
    <p:embeddedFont>
      <p:font typeface="Plus Jakarta Sans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2" y="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08C88-7107-4F69-A973-CACBA9440E9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B385F-EDD9-47E0-9861-764391D22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09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B385F-EDD9-47E0-9861-764391D22D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46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2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37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9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90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2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62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68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054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0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9793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66834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459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34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36220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91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52211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53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14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00937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61020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16561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7610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820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380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949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00249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22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777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github.com/karshTD/Saarthi.gi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495925"/>
            <a:ext cx="1066800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006601"/>
            <a:ext cx="68580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495925"/>
            <a:ext cx="10668000" cy="9525"/>
          </a:xfrm>
          <a:prstGeom prst="rect">
            <a:avLst/>
          </a:prstGeom>
          <a:solidFill>
            <a:srgbClr val="7A2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9250" y="609600"/>
            <a:ext cx="2738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DE8D7"/>
                </a:solidFill>
                <a:latin typeface="Plus Jakarta Sans"/>
              </a:rPr>
              <a:t>A Ray of Hope Charitable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478" y="1969814"/>
            <a:ext cx="10301287" cy="1122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lang="en-US" sz="4050" b="1" i="0" u="none" dirty="0">
                <a:solidFill>
                  <a:srgbClr val="FFF6EE"/>
                </a:solidFill>
                <a:latin typeface="Fraunces"/>
              </a:rPr>
              <a:t>GROUP-13 SERVICE LEARNING PRESENTATION</a:t>
            </a:r>
            <a:br>
              <a:rPr lang="en-US" sz="4050" b="1" i="0" u="none" dirty="0">
                <a:solidFill>
                  <a:srgbClr val="FFF6EE"/>
                </a:solidFill>
                <a:latin typeface="Fraunces"/>
              </a:rPr>
            </a:br>
            <a:r>
              <a:rPr sz="2000" b="1" i="0" u="none" dirty="0" err="1">
                <a:solidFill>
                  <a:srgbClr val="FFF6EE"/>
                </a:solidFill>
                <a:latin typeface="Aptos Narrow" panose="020B0004020202020204" pitchFamily="34" charset="0"/>
              </a:rPr>
              <a:t>Saarthi</a:t>
            </a:r>
            <a:r>
              <a:rPr sz="2000" b="1" i="0" u="none" dirty="0">
                <a:solidFill>
                  <a:srgbClr val="FFF6EE"/>
                </a:solidFill>
                <a:latin typeface="Aptos Narrow" panose="020B0004020202020204" pitchFamily="34" charset="0"/>
              </a:rPr>
              <a:t>: An AI-Powered Teaching Copilot for Personalized, Differentiated Learning Support</a:t>
            </a:r>
            <a:endParaRPr sz="4050" b="1" i="0" u="none" dirty="0">
              <a:solidFill>
                <a:srgbClr val="FFF6EE"/>
              </a:solidFill>
              <a:latin typeface="Aptos Narrow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5734050"/>
            <a:ext cx="216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76F51"/>
                </a:solidFill>
                <a:latin typeface="Plus Jakarta San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943600"/>
            <a:ext cx="1519647" cy="6001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FFF6EE"/>
                </a:solidFill>
                <a:latin typeface="Fraunces"/>
              </a:rPr>
              <a:t>Utkarsh Singh</a:t>
            </a:r>
            <a:br>
              <a:rPr lang="en-US" sz="1950" b="1" i="0" u="none" dirty="0">
                <a:solidFill>
                  <a:srgbClr val="FFF6EE"/>
                </a:solidFill>
                <a:latin typeface="Fraunces"/>
              </a:rPr>
            </a:br>
            <a:r>
              <a:rPr lang="en-US" sz="1950" b="1" i="0" u="none" dirty="0">
                <a:solidFill>
                  <a:srgbClr val="FFF6EE"/>
                </a:solidFill>
                <a:latin typeface="Fraunces"/>
              </a:rPr>
              <a:t>240701222224</a:t>
            </a:r>
            <a:endParaRPr sz="1950" b="1" i="0" u="none" dirty="0">
              <a:solidFill>
                <a:srgbClr val="FFF6EE"/>
              </a:solidFill>
              <a:latin typeface="Fraunce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05812" y="5819775"/>
            <a:ext cx="3024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E76F51"/>
                </a:solidFill>
                <a:latin typeface="Plus Jakarta Sans"/>
              </a:rPr>
              <a:t>PARTNER 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5812" y="6029325"/>
            <a:ext cx="3024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0" i="0" u="none">
                <a:solidFill>
                  <a:srgbClr val="FDE8D7"/>
                </a:solidFill>
                <a:latin typeface="Plus Jakarta Sans"/>
              </a:rPr>
              <a:t>A Ray of Hope Charitable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19750"/>
            <a:ext cx="10972800" cy="781050"/>
          </a:xfrm>
          <a:prstGeom prst="roundRect">
            <a:avLst>
              <a:gd name="adj" fmla="val 7317"/>
            </a:avLst>
          </a:prstGeom>
          <a:solidFill>
            <a:srgbClr val="6B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95475"/>
            <a:ext cx="5295900" cy="3181350"/>
          </a:xfrm>
          <a:prstGeom prst="roundRect">
            <a:avLst>
              <a:gd name="adj" fmla="val 2395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1895475"/>
            <a:ext cx="5295900" cy="3181350"/>
          </a:xfrm>
          <a:prstGeom prst="roundRect">
            <a:avLst>
              <a:gd name="adj" fmla="val 2395"/>
            </a:avLst>
          </a:prstGeom>
          <a:solidFill>
            <a:srgbClr val="F9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67600" y="904875"/>
            <a:ext cx="4724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Bridging Ground-Level Teaching &amp;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5791200"/>
            <a:ext cx="10534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6EE"/>
                </a:solidFill>
                <a:latin typeface="Plus Jakarta Sans"/>
              </a:rPr>
              <a:t>Core Principle: Technology cannot replace a patient volunteer, but structured tooling ensures limited preparation time translates into tailored support for every child.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8101012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The Purpose of My Service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162175"/>
            <a:ext cx="625078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1418"/>
                </a:solidFill>
                <a:latin typeface="Fraunces"/>
              </a:rPr>
              <a:t>Direct Classroom Presence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552700"/>
            <a:ext cx="48577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Service learning begins with consistent physical presence. Teaching weekly sessions builds empathy for how children approach unfamiliar concepts.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162175"/>
            <a:ext cx="56388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1418"/>
                </a:solidFill>
                <a:latin typeface="Fraunces"/>
              </a:rPr>
              <a:t>Purpose-Built Technical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552700"/>
            <a:ext cx="48577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Engineering skills amplify community work when grounded in real constraints. Saarthi emerged directly from challenges observed during volunteer hours.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3194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343275"/>
            <a:ext cx="46672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Weekly Continuity: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Showing up consistently to build student trust.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8338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857625"/>
            <a:ext cx="46672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2B2D2F"/>
                </a:solidFill>
                <a:latin typeface="Plus Jakarta Sans"/>
              </a:rPr>
              <a:t>Diagnostic Observation:</a:t>
            </a:r>
            <a:r>
              <a:rPr sz="1350" b="0" i="0" u="none" dirty="0">
                <a:solidFill>
                  <a:srgbClr val="2B2D2F"/>
                </a:solidFill>
                <a:latin typeface="Plus Jakarta Sans"/>
              </a:rPr>
              <a:t> Identifying real cognitive bottlenecks in math and reading.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3481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4371975"/>
            <a:ext cx="46672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Patient Mentorship: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Adapting instruction pace to individual comfort levels.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33194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3343275"/>
            <a:ext cx="46672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Problem-First Design: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Software shaped by real classroom preparation friction.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450" y="38338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3857625"/>
            <a:ext cx="46672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Multiplier Effect: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Helping every volunteer's teaching hour go further.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450" y="43481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3700" y="4371975"/>
            <a:ext cx="46672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Full-Stack Ownership: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Designing, coding, and structuring the complete system solo.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59884" y="2486025"/>
            <a:ext cx="5122515" cy="2971800"/>
          </a:xfrm>
          <a:prstGeom prst="roundRect">
            <a:avLst>
              <a:gd name="adj" fmla="val 3205"/>
            </a:avLst>
          </a:prstGeom>
          <a:solidFill>
            <a:srgbClr val="F9DCC4"/>
          </a:solidFill>
          <a:ln w="19050">
            <a:solidFill>
              <a:srgbClr val="B5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7225" y="3038475"/>
            <a:ext cx="5469284" cy="2743200"/>
          </a:xfrm>
          <a:prstGeom prst="roundRect">
            <a:avLst>
              <a:gd name="adj" fmla="val 2777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567" y="29622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50752" y="5992524"/>
            <a:ext cx="3495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7F4F24"/>
                </a:solidFill>
                <a:latin typeface="Plus Jakarta Sans"/>
              </a:rPr>
              <a:t>Wakad</a:t>
            </a:r>
            <a:r>
              <a:rPr sz="1200" b="1" i="0" u="none" dirty="0">
                <a:solidFill>
                  <a:srgbClr val="7F4F24"/>
                </a:solidFill>
                <a:latin typeface="Plus Jakarta Sans"/>
              </a:rPr>
              <a:t>, Pimpri Chinchwad, Maharashtra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8096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02 / ORGANIZATION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036" y="711777"/>
            <a:ext cx="8501062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About A Ray of Hope Charitable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36938"/>
            <a:ext cx="556453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2B2D2F"/>
                </a:solidFill>
                <a:latin typeface="Plus Jakarta Sans"/>
              </a:rPr>
              <a:t>A Ray of Hope Charitable Trust provides dedicated educational support and mentorship to children from underserved backgrounds who face limited academic resources at home.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767" y="3495675"/>
            <a:ext cx="4800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6B1418"/>
                </a:solidFill>
                <a:latin typeface="Fraunces"/>
              </a:rPr>
              <a:t>Insert NGO Classroom Photograph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7005" y="3857625"/>
            <a:ext cx="40481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Place GPS-tagged field photograph from A Ray of Hope Charitable Trust center (Late Rambhau Dada Kalate Marg, Wakad, Pimpri Chinchwad).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5567" y="4810125"/>
            <a:ext cx="4191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Aspect Ratio: 4:3 / Landscape Field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48025"/>
            <a:ext cx="657836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6B1418"/>
                </a:solidFill>
                <a:latin typeface="Fraunces"/>
              </a:rPr>
              <a:t>The Learning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5671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590925"/>
            <a:ext cx="4916834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Community Center Classrooms: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Small-group and one-on-one tutoring sessions in Wakad.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0814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4105275"/>
            <a:ext cx="4916834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Diverse Age &amp; Skill Groups: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Children with varied schooling continuity learning side by side.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45958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619625"/>
            <a:ext cx="4916834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Volunteer-Driven Model: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Instruction relies on committed volunteers guiding foundational literacy and numeracy.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51101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5133975"/>
            <a:ext cx="4916834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Shared Mission: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Giving every child a fair shot at academic confidence and foundational mastery.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4D7EEB-EAF8-1285-56DE-9B81CACB8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88" y="2004760"/>
            <a:ext cx="5202335" cy="3849652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86125"/>
            <a:ext cx="2600325" cy="2019300"/>
          </a:xfrm>
          <a:prstGeom prst="roundRect">
            <a:avLst>
              <a:gd name="adj" fmla="val 3773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286125"/>
            <a:ext cx="2600325" cy="2019300"/>
          </a:xfrm>
          <a:prstGeom prst="roundRect">
            <a:avLst>
              <a:gd name="adj" fmla="val 3773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86125"/>
            <a:ext cx="2600325" cy="2019300"/>
          </a:xfrm>
          <a:prstGeom prst="roundRect">
            <a:avLst>
              <a:gd name="adj" fmla="val 3773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286125"/>
            <a:ext cx="2600325" cy="2019300"/>
          </a:xfrm>
          <a:prstGeom prst="roundRect">
            <a:avLst>
              <a:gd name="adj" fmla="val 3773"/>
            </a:avLst>
          </a:prstGeom>
          <a:solidFill>
            <a:srgbClr val="F9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1504950"/>
            <a:ext cx="1106805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Every aspect of this work from the weekly in-person teaching sessions, of which I conducted approximately 14 visits, to architecting and coding the </a:t>
            </a:r>
            <a:r>
              <a:rPr lang="en-US" dirty="0" err="1">
                <a:solidFill>
                  <a:srgbClr val="FF0000"/>
                </a:solidFill>
                <a:latin typeface="Arial Black" panose="020B0A04020102020204" pitchFamily="34" charset="0"/>
              </a:rPr>
              <a:t>Saarthi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 prototype represents my independent effort.</a:t>
            </a:r>
            <a:endParaRPr b="0" i="0" u="none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62900" y="904875"/>
            <a:ext cx="4229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No Team, No Hand-Offs — End-to-End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5881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03 / INDIVIDUAL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6175771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My Individual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14725"/>
            <a:ext cx="26789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5382A"/>
                </a:solidFill>
                <a:latin typeface="JetBrains Mono"/>
              </a:rPr>
              <a:t>01 / I Teach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671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B1418"/>
                </a:solidFill>
                <a:latin typeface="Fraunces"/>
              </a:rPr>
              <a:t>Direct 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00525"/>
            <a:ext cx="22383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Guiding small groups and one-on-one sessions in mathematics and reading at each child's 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3514725"/>
            <a:ext cx="26789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5382A"/>
                </a:solidFill>
                <a:latin typeface="JetBrains Mono"/>
              </a:rPr>
              <a:t>02 / I 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38671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B1418"/>
                </a:solidFill>
                <a:latin typeface="Fraunces"/>
              </a:rPr>
              <a:t>Session 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4200525"/>
            <a:ext cx="22383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Tracking individual learning bottlenecks between visits so student progress never stalls.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514725"/>
            <a:ext cx="26789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5382A"/>
                </a:solidFill>
                <a:latin typeface="JetBrains Mono"/>
              </a:rPr>
              <a:t>03 / I Encourage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8671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B1418"/>
                </a:solidFill>
                <a:latin typeface="Fraunces"/>
              </a:rPr>
              <a:t>Confidence 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4200525"/>
            <a:ext cx="22383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Celebrating small breakthroughs like finished worksheets and solved word problems.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3514725"/>
            <a:ext cx="26789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JetBrains Mono"/>
              </a:rPr>
              <a:t>04 / I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0675" y="38671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B1418"/>
                </a:solidFill>
                <a:latin typeface="Fraunces"/>
              </a:rPr>
              <a:t>Software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0675" y="4200525"/>
            <a:ext cx="22383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Sole developer of Saarthi across React/Next.js, FastAPI, PostgreSQL, and FAISS RAG pipelines.</a:t>
            </a:r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B0AB40FC-1533-4C06-6F64-35D3521F34A2}"/>
              </a:ext>
            </a:extLst>
          </p:cNvPr>
          <p:cNvSpPr/>
          <p:nvPr/>
        </p:nvSpPr>
        <p:spPr>
          <a:xfrm>
            <a:off x="2239241" y="2447493"/>
            <a:ext cx="2031423" cy="732125"/>
          </a:xfrm>
          <a:prstGeom prst="curved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AF70D047-2D38-B17E-CE3C-D64BB5BDA900}"/>
              </a:ext>
            </a:extLst>
          </p:cNvPr>
          <p:cNvSpPr/>
          <p:nvPr/>
        </p:nvSpPr>
        <p:spPr>
          <a:xfrm>
            <a:off x="5237667" y="5362143"/>
            <a:ext cx="2140527" cy="862445"/>
          </a:xfrm>
          <a:prstGeom prst="curvedUp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E3F1B1-7076-B4FC-592C-7EFCCFC8E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105" y="2500880"/>
            <a:ext cx="2103302" cy="835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1" y="2036185"/>
            <a:ext cx="5314950" cy="3533775"/>
          </a:xfrm>
          <a:prstGeom prst="roundRect">
            <a:avLst>
              <a:gd name="adj" fmla="val 2156"/>
            </a:avLst>
          </a:prstGeom>
          <a:solidFill>
            <a:srgbClr val="FDE8D7"/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047009"/>
            <a:ext cx="5314950" cy="3522951"/>
          </a:xfrm>
          <a:prstGeom prst="roundRect">
            <a:avLst>
              <a:gd name="adj" fmla="val 2507"/>
            </a:avLst>
          </a:prstGeom>
          <a:solidFill>
            <a:srgbClr val="F9DCC4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67675" y="904875"/>
            <a:ext cx="41243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Foundational Subjects &amp; Multi-Level Classrooms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5012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04 / FIELD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5263157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The Classroom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471737"/>
            <a:ext cx="62757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6B1418"/>
                </a:solidFill>
                <a:latin typeface="Fraunces"/>
              </a:rPr>
              <a:t>Weekly Instructional Focus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459398"/>
            <a:ext cx="56578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6B1418"/>
                </a:solidFill>
                <a:latin typeface="Fraunces"/>
              </a:rPr>
              <a:t>Three-Tier Learner Spectrum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148012"/>
            <a:ext cx="4876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Within a single group (e.g., Grade 5 Mathematics), students demonstrate widely divergent mastery levels: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87655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90036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2B2D2F"/>
                </a:solidFill>
                <a:latin typeface="Plus Jakarta Sans"/>
              </a:rPr>
              <a:t>Fractions &amp; Number Sense:</a:t>
            </a:r>
            <a:r>
              <a:rPr sz="1350" b="0" i="0" u="none" dirty="0">
                <a:solidFill>
                  <a:srgbClr val="2B2D2F"/>
                </a:solidFill>
                <a:latin typeface="Plus Jakarta Sans"/>
              </a:rPr>
              <a:t> Visual representations of like and unlike fractions.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40995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43376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Word Problems: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Translating everyday scenarios into arithmetic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94335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96716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Mental Math: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Building calculation fluency and numerical confidence.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47675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50056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Reading Support: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Comprehension and vocabulary scaffolding for word problems.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501015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503396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2B2D2F"/>
                </a:solidFill>
                <a:latin typeface="Plus Jakarta Sans"/>
              </a:rPr>
              <a:t>Focus &amp; Patience:</a:t>
            </a:r>
            <a:r>
              <a:rPr sz="1350" b="0" i="0" u="none" dirty="0">
                <a:solidFill>
                  <a:srgbClr val="2B2D2F"/>
                </a:solidFill>
                <a:latin typeface="Plus Jakarta Sans"/>
              </a:rPr>
              <a:t> Sustaining attention across 45-minute study blocks.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69570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371951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Struggling Tier: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Requires visual aids and foundational prerequisite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22910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425291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On-Track Tier: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Ready for guided practice on grade-level concepts.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76250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650" y="4786312"/>
            <a:ext cx="468630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Advanced Tier: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Needs multi-step challenge problems to stay engaged.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2762"/>
            <a:ext cx="2600325" cy="2405062"/>
          </a:xfrm>
          <a:prstGeom prst="roundRect">
            <a:avLst>
              <a:gd name="adj" fmla="val 3319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052761"/>
            <a:ext cx="2676525" cy="2405063"/>
          </a:xfrm>
          <a:prstGeom prst="roundRect">
            <a:avLst>
              <a:gd name="adj" fmla="val 3030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3055359"/>
            <a:ext cx="2600325" cy="2405062"/>
          </a:xfrm>
          <a:prstGeom prst="roundRect">
            <a:avLst>
              <a:gd name="adj" fmla="val 3755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052761"/>
            <a:ext cx="2600325" cy="2405062"/>
          </a:xfrm>
          <a:prstGeom prst="roundRect">
            <a:avLst>
              <a:gd name="adj" fmla="val 3755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15430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2B2D2F"/>
                </a:solidFill>
                <a:latin typeface="Plus Jakarta Sans"/>
              </a:rPr>
              <a:t>Delivering personalized instruction across mixed-ability groups introduces four recurring operational challenges for volunteers: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0" y="904875"/>
            <a:ext cx="381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Structural Bottlenecks in Volunteer Teaching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3905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05 /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4100512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The Core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300412"/>
            <a:ext cx="2726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5382A"/>
                </a:solidFill>
                <a:latin typeface="JetBrains Mono"/>
              </a:rPr>
              <a:t>BOTTLENECK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576637"/>
            <a:ext cx="239029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Heterogeneous Pacing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224337"/>
            <a:ext cx="22764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Single-speed lessons leave struggling learners behind while advanced students lose focus.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975" y="3190875"/>
            <a:ext cx="2726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5382A"/>
                </a:solidFill>
                <a:latin typeface="JetBrains Mono"/>
              </a:rPr>
              <a:t>BOTTLENECK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9975" y="3467100"/>
            <a:ext cx="239029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Preparation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4114800"/>
            <a:ext cx="2276475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Crafting three distinct activity sets manually requires hours of preparation time per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33762"/>
            <a:ext cx="2726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B5382A"/>
                </a:solidFill>
                <a:latin typeface="JetBrains Mono"/>
              </a:rPr>
              <a:t>BOTTLENECK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09987"/>
            <a:ext cx="286285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Progress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90987"/>
            <a:ext cx="22764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Informal notes make tracking student mastery across weeks fragmented and unreliable.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1625" y="3433762"/>
            <a:ext cx="2726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B5382A"/>
                </a:solidFill>
                <a:latin typeface="JetBrains Mono"/>
              </a:rPr>
              <a:t>BOTTLENECK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1625" y="3709987"/>
            <a:ext cx="286285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Session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1625" y="4090987"/>
            <a:ext cx="22764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Without structured post-session analysis, planning the next session lacks diagnostic grounding.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810000"/>
            <a:ext cx="3479750" cy="1819275"/>
          </a:xfrm>
          <a:prstGeom prst="roundRect">
            <a:avLst>
              <a:gd name="adj" fmla="val 4188"/>
            </a:avLst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3810000"/>
            <a:ext cx="3479750" cy="1819275"/>
          </a:xfrm>
          <a:prstGeom prst="roundRect">
            <a:avLst>
              <a:gd name="adj" fmla="val 4188"/>
            </a:avLst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3810000"/>
            <a:ext cx="3479750" cy="1819275"/>
          </a:xfrm>
          <a:prstGeom prst="roundRect">
            <a:avLst>
              <a:gd name="adj" fmla="val 4188"/>
            </a:avLst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122872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B5382A"/>
                </a:solidFill>
                <a:latin typeface="JetBrains Mono"/>
              </a:rPr>
              <a:t>06 / PROJECT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33525"/>
            <a:ext cx="9701212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6B1418"/>
                </a:solidFill>
                <a:latin typeface="Fraunces"/>
              </a:rPr>
              <a:t>Why </a:t>
            </a:r>
            <a:r>
              <a:rPr sz="3300" b="1" i="0" u="none" dirty="0" err="1">
                <a:solidFill>
                  <a:srgbClr val="6B1418"/>
                </a:solidFill>
                <a:latin typeface="Fraunces"/>
              </a:rPr>
              <a:t>Saarthi</a:t>
            </a:r>
            <a:r>
              <a:rPr sz="3300" b="1" i="0" u="none" dirty="0">
                <a:solidFill>
                  <a:srgbClr val="6B1418"/>
                </a:solidFill>
                <a:latin typeface="Fraunces"/>
              </a:rPr>
              <a:t>: Turning Limited Prep Time into Differentiated Classroom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52725"/>
            <a:ext cx="94297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B2D2F"/>
                </a:solidFill>
                <a:latin typeface="Plus Jakarta Sans"/>
              </a:rPr>
              <a:t>Saarthi acts as an intelligent teaching copilot. Instead of replacing volunteer judgment, it automates lesson structuring, resource lookup, and progress synthesis so every session builds systematically on the last.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076700"/>
            <a:ext cx="368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5382A"/>
                </a:solidFill>
                <a:latin typeface="JetBrains Mono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52925"/>
            <a:ext cx="38670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1418"/>
                </a:solidFill>
                <a:latin typeface="Fraunces"/>
              </a:rPr>
              <a:t>Plan the Lesson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705350"/>
            <a:ext cx="30416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Generate structured, curriculum-grounded lesson plans split across three learning tiers.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2750" y="4076700"/>
            <a:ext cx="368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5382A"/>
                </a:solidFill>
                <a:latin typeface="JetBrains Mono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4352925"/>
            <a:ext cx="38670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1418"/>
                </a:solidFill>
                <a:latin typeface="Fraunces"/>
              </a:rPr>
              <a:t>Teach &amp; 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4705350"/>
            <a:ext cx="30416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Deliver targeted group activities while logging student scores and qualitative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4076700"/>
            <a:ext cx="368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5382A"/>
                </a:solidFill>
                <a:latin typeface="JetBrains Mono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200" y="4352925"/>
            <a:ext cx="382279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1418"/>
                </a:solidFill>
                <a:latin typeface="Fraunces"/>
              </a:rPr>
              <a:t>Recommend What's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9200" y="4705350"/>
            <a:ext cx="30416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Synthesize session outcomes into actionable recommendations for the following 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0140D2-7857-1E66-4F10-64715E961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9" y="0"/>
            <a:ext cx="12017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7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56398" y="2247900"/>
            <a:ext cx="6826001" cy="3409950"/>
          </a:xfrm>
          <a:prstGeom prst="roundRect">
            <a:avLst>
              <a:gd name="adj" fmla="val 2793"/>
            </a:avLst>
          </a:prstGeom>
          <a:solidFill>
            <a:srgbClr val="F9DCC4"/>
          </a:solidFill>
          <a:ln w="19050">
            <a:solidFill>
              <a:srgbClr val="6B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487" y="2800350"/>
            <a:ext cx="447675" cy="40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11290" y="5949722"/>
            <a:ext cx="3505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7F4F24"/>
                </a:solidFill>
                <a:latin typeface="Plus Jakarta Sans"/>
              </a:rPr>
              <a:t>Main Dashboard &amp; Application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9227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07 / 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968871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6B1418"/>
                </a:solidFill>
                <a:latin typeface="Fraunces"/>
              </a:rPr>
              <a:t>Introducing </a:t>
            </a:r>
            <a:r>
              <a:rPr sz="2700" b="1" i="0" u="none" dirty="0" err="1">
                <a:solidFill>
                  <a:srgbClr val="6B1418"/>
                </a:solidFill>
                <a:latin typeface="Fraunces"/>
              </a:rPr>
              <a:t>Saarthi</a:t>
            </a:r>
            <a:r>
              <a:rPr sz="2700" b="1" i="0" u="none" dirty="0">
                <a:solidFill>
                  <a:srgbClr val="6B1418"/>
                </a:solidFill>
                <a:latin typeface="Fraunces"/>
              </a:rPr>
              <a:t>: The Volunteer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81187"/>
            <a:ext cx="50426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Unified Workspace for Volunteers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00287"/>
            <a:ext cx="3937248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Saarthi centralizes class rosters, session preparation, differentiated activity sheets, and longitudinal student tracking into a clean web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191" y="3352800"/>
            <a:ext cx="783641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B1418"/>
                </a:solidFill>
                <a:latin typeface="Fraunces"/>
              </a:rPr>
              <a:t>Website Screenshot Placeholder 01: Main Volunteer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3699" y="3981450"/>
            <a:ext cx="6191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5C3A21"/>
                </a:solidFill>
                <a:latin typeface="Plus Jakarta Sans"/>
              </a:rPr>
              <a:t>Insert full 16:9 screenshot of the </a:t>
            </a:r>
            <a:r>
              <a:rPr sz="1200" b="0" i="0" u="none" dirty="0" err="1">
                <a:solidFill>
                  <a:srgbClr val="5C3A21"/>
                </a:solidFill>
                <a:latin typeface="Plus Jakarta Sans"/>
              </a:rPr>
              <a:t>Saarthi</a:t>
            </a:r>
            <a:r>
              <a:rPr sz="1200" b="0" i="0" u="none" dirty="0">
                <a:solidFill>
                  <a:srgbClr val="5C3A21"/>
                </a:solidFill>
                <a:latin typeface="Plus Jakarta Sans"/>
              </a:rPr>
              <a:t> Dashboard showing Grade/Section header, Today's Session card, Class Level Breakdown bar, Student Progress table, and Next Session Recommendation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9949" y="4933950"/>
            <a:ext cx="523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Route: /dashboard • Aspect Ratio: 16:9 Browser Viewport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3051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328987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Active Session Summary: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Displays current topic, duration, and 3-level readiness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38385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862387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Class Level Breakdown: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Visualizes student distribution across Struggling, On Track, and Advanced tiers.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59105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614862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Student Progress Table: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Tracks individual scores and tier assignments across logged sessions.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53435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5367337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Next-Session Recommendation Panel: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Surfaces AI-synthesized instructional guidance.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513BF8-8722-2007-E3E7-A6D8185D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098" y="1881187"/>
            <a:ext cx="7277524" cy="3930423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3B65CBB-EE3B-776E-0A86-72867C86337F}"/>
              </a:ext>
            </a:extLst>
          </p:cNvPr>
          <p:cNvSpPr/>
          <p:nvPr/>
        </p:nvSpPr>
        <p:spPr>
          <a:xfrm>
            <a:off x="4756398" y="1298864"/>
            <a:ext cx="7104825" cy="39658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/>
              </a:rPr>
              <a:t>https://github.com/karshTD/Saarthi.git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10E04-F21F-F08E-62D4-65FA46149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8076" cy="3620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A7C348-4795-7BEA-D701-BFAD378B7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76" y="42043"/>
            <a:ext cx="5753805" cy="3578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CBBD8B-4D64-54A1-310A-CF69B0AE6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" y="3543701"/>
            <a:ext cx="6438213" cy="3295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89DF0-76EE-650C-BA4A-6914048C1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194" y="3615840"/>
            <a:ext cx="5753805" cy="314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72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82100" y="781050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F4F24"/>
                </a:solidFill>
                <a:latin typeface="Plus Jakarta Sans"/>
              </a:rPr>
              <a:t>Modular Full-Stack &amp;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81000"/>
            <a:ext cx="6191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09 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90550"/>
            <a:ext cx="6500812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6B1418"/>
                </a:solidFill>
                <a:latin typeface="Fraunces"/>
              </a:rPr>
              <a:t>Saarthi End-to-End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52575"/>
            <a:ext cx="10972800" cy="4800600"/>
          </a:xfrm>
          <a:prstGeom prst="roundRect">
            <a:avLst>
              <a:gd name="adj" fmla="val 0"/>
            </a:avLst>
          </a:prstGeom>
          <a:solidFill>
            <a:srgbClr val="FDE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552575"/>
          <a:ext cx="10972798" cy="4800600"/>
        </p:xfrm>
        <a:graphic>
          <a:graphicData uri="http://schemas.openxmlformats.org/drawingml/2006/table">
            <a:tbl>
              <a:tblPr/>
              <a:tblGrid>
                <a:gridCol w="241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6EE"/>
                          </a:solidFill>
                          <a:latin typeface="Plus Jakarta Sans"/>
                        </a:rPr>
                        <a:t>System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6EE"/>
                          </a:solidFill>
                          <a:latin typeface="Plus Jakarta Sans"/>
                        </a:rPr>
                        <a:t>Core Technologies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6EE"/>
                          </a:solidFill>
                          <a:latin typeface="Plus Jakarta Sans"/>
                        </a:rPr>
                        <a:t>Architectural Role in Saarthi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4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B1418"/>
                          </a:solidFill>
                          <a:latin typeface="Plus Jakarta Sans"/>
                        </a:rPr>
                        <a:t>Frontend Client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B2D2F"/>
                          </a:solidFill>
                          <a:latin typeface="JetBrains Mono"/>
                        </a:rPr>
                        <a:t>React, Next.js, TypeScript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B2D2F"/>
                          </a:solidFill>
                          <a:latin typeface="Plus Jakarta Sans"/>
                        </a:rPr>
                        <a:t>Type-safe volunteer dashboard, session planner views, and student progress tracking UI.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B1418"/>
                          </a:solidFill>
                          <a:latin typeface="Plus Jakarta Sans"/>
                        </a:rPr>
                        <a:t>Backend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B2D2F"/>
                          </a:solidFill>
                          <a:latin typeface="JetBrains Mono"/>
                        </a:rPr>
                        <a:t>FastAPI, Python, Pydantic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B2D2F"/>
                          </a:solidFill>
                          <a:latin typeface="Plus Jakarta Sans"/>
                        </a:rPr>
                        <a:t>Asynchronous REST endpoints, schema validation, and orchestration of database and AI pipelines.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B1418"/>
                          </a:solidFill>
                          <a:latin typeface="Plus Jakarta Sans"/>
                        </a:rPr>
                        <a:t>Relational 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B2D2F"/>
                          </a:solidFill>
                          <a:latin typeface="JetBrains Mono"/>
                        </a:rPr>
                        <a:t>PostgreSQL, SQLAlchemy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B2D2F"/>
                          </a:solidFill>
                          <a:latin typeface="Plus Jakarta Sans"/>
                        </a:rPr>
                        <a:t>Persistent ORM models for classes, student profiles, session logs, and assessment rubrics.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B1418"/>
                          </a:solidFill>
                          <a:latin typeface="Plus Jakarta Sans"/>
                        </a:rPr>
                        <a:t>AI Generation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B2D2F"/>
                          </a:solidFill>
                          <a:latin typeface="JetBrains Mono"/>
                        </a:rPr>
                        <a:t>LLM Planner &amp; Analyzer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B2D2F"/>
                          </a:solidFill>
                          <a:latin typeface="Plus Jakarta Sans"/>
                        </a:rPr>
                        <a:t>Structured JSON generation for 3-tier differentiated lessons and post-session diagnostic summaries.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B1418"/>
                          </a:solidFill>
                          <a:latin typeface="Plus Jakarta Sans"/>
                        </a:rPr>
                        <a:t>Retrieval / RAG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B2D2F"/>
                          </a:solidFill>
                          <a:latin typeface="JetBrains Mono"/>
                        </a:rPr>
                        <a:t>SentenceTransformers, FAISS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B2D2F"/>
                          </a:solidFill>
                          <a:latin typeface="Plus Jakarta Sans"/>
                        </a:rPr>
                        <a:t>Dense vector indexing of educational books and CSV templates for grounded lesson context.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6B1418"/>
                          </a:solidFill>
                          <a:latin typeface="Plus Jakarta Sans"/>
                        </a:rPr>
                        <a:t>DevOps &amp; Tooling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B2D2F"/>
                          </a:solidFill>
                          <a:latin typeface="JetBrains Mono"/>
                        </a:rPr>
                        <a:t>Docker, Git, GitHub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B2D2F"/>
                          </a:solidFill>
                          <a:latin typeface="Plus Jakarta Sans"/>
                        </a:rPr>
                        <a:t>Containerized multi-service environment and version-controlled modular repository.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10600" y="904875"/>
            <a:ext cx="3581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Production-Grade Open-Source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9072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10 / ENGINEERING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952619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Technology Stack &amp; Layer Responsibilities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47912"/>
            <a:ext cx="6826001" cy="3209925"/>
          </a:xfrm>
          <a:prstGeom prst="roundRect">
            <a:avLst>
              <a:gd name="adj" fmla="val 2967"/>
            </a:avLst>
          </a:prstGeom>
          <a:solidFill>
            <a:srgbClr val="F9DCC4"/>
          </a:solidFill>
          <a:ln w="19050">
            <a:solidFill>
              <a:srgbClr val="6B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114" y="2900362"/>
            <a:ext cx="504825" cy="40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4850" y="904875"/>
            <a:ext cx="386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React / Next.js &amp; TypeScript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904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11 / FRONTEND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9501187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Frontend Experience &amp; Class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6" y="3452812"/>
            <a:ext cx="800900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B1418"/>
                </a:solidFill>
                <a:latin typeface="Fraunces"/>
              </a:rPr>
              <a:t>Website Screenshot Placeholder 02: Class &amp; Student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901" y="4081462"/>
            <a:ext cx="6191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Insert full screenshot of the "My Classes" and Student Roster screen showing student learning tiers (Struggling, On Track, Advanced), historical scores, and individual profile cards.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8401" y="4833937"/>
            <a:ext cx="5048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Route: /classes • Aspect Ratio: 16:9 Browser Viewport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0401" y="1857375"/>
            <a:ext cx="413411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Designed for Low-Friction Volunteer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401" y="2543175"/>
            <a:ext cx="3937248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Built with Next.js and strict TypeScript interfaces, the client application minimizes navigation complexity before and during live classroom sessions.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5651" y="35480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0901" y="3571875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Roster Organization: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Groups learners by grade, section, and current mastery tier.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5651" y="40814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0901" y="4105275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Type-Safe API Contracts: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Shared schemas between FastAPI Pydantic models and TypeScript interfaces.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5651" y="483393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901" y="4857750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Immediate Context Switching: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One-click transition from class roster to session planner.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5651" y="536733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0901" y="5391150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Scannable Visual Hierarchy: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High-contrast status indicators for rapid classroom reference.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7C2018-96C3-4BFF-AC05-81369F987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857375"/>
            <a:ext cx="7529898" cy="39569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56398" y="2347912"/>
            <a:ext cx="6826001" cy="3209925"/>
          </a:xfrm>
          <a:prstGeom prst="roundRect">
            <a:avLst>
              <a:gd name="adj" fmla="val 2967"/>
            </a:avLst>
          </a:prstGeom>
          <a:solidFill>
            <a:srgbClr val="F9DCC4"/>
          </a:solidFill>
          <a:ln w="19050">
            <a:solidFill>
              <a:srgbClr val="6B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487" y="2900362"/>
            <a:ext cx="447675" cy="40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4425" y="904875"/>
            <a:ext cx="3457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Structured Multi-Tier Activity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9405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12 / GENERATIVE PEDAGOGICAL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9876234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AI-Powered Differentiated Lesson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00262"/>
            <a:ext cx="50426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From Topic Input to 3-Tier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19362"/>
            <a:ext cx="3937248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Instead of returning generic walls of text, the AI Planner generates structured lesson blocks calibrated to the class's exact distribution of learning levels.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191" y="3452812"/>
            <a:ext cx="783641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B1418"/>
                </a:solidFill>
                <a:latin typeface="Fraunces"/>
              </a:rPr>
              <a:t>Website Screenshot Placeholder 03: Lesson Planner &amp; Generated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3699" y="4081462"/>
            <a:ext cx="6191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Insert full screenshot of the Session Planner interface displaying topic selection (e.g., Adding Like Fractions) and the generated 3-level differentiated lesson plan tabs.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5199" y="4833937"/>
            <a:ext cx="5048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Route: /planner • Aspect Ratio: 16:9 Browser Viewport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524250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548062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Foundational Tier (Struggling):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Concrete visual analogies and step-by-step guided worksheets.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2767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300537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Core Tier (On Track):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Standard conceptual practice problems aligned with session goals.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8101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833937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Extension Tier (Advanced):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Multi-step word problems requiring deeper reasoning.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53435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5367337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Time-Boxed Segments: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Pacing guidance for a 45-minute volunteer teaching block.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CCED65-9EF5-CD51-5407-98ED5987C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098" y="1860405"/>
            <a:ext cx="7021498" cy="44421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74952" y="2743200"/>
            <a:ext cx="6007447" cy="3114675"/>
          </a:xfrm>
          <a:prstGeom prst="roundRect">
            <a:avLst>
              <a:gd name="adj" fmla="val 3058"/>
            </a:avLst>
          </a:prstGeom>
          <a:solidFill>
            <a:srgbClr val="F9DCC4"/>
          </a:solidFill>
          <a:ln w="19050">
            <a:solidFill>
              <a:srgbClr val="6B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24050"/>
            <a:ext cx="4660552" cy="1638300"/>
          </a:xfrm>
          <a:prstGeom prst="roundRect">
            <a:avLst>
              <a:gd name="adj" fmla="val 4651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714750"/>
            <a:ext cx="4660552" cy="2962275"/>
          </a:xfrm>
          <a:prstGeom prst="roundRect">
            <a:avLst>
              <a:gd name="adj" fmla="val 2572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914" y="3257550"/>
            <a:ext cx="333375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1280" y="1123950"/>
            <a:ext cx="309636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Grounding AI Outputs in Curated Learning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996460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13 / RETRIEVAL-AUGMENTED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8470277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Resource Retrieval with SentenceTransformers &amp; FAISS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7093" y="3790950"/>
            <a:ext cx="696316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B1418"/>
                </a:solidFill>
                <a:latin typeface="Fraunces"/>
              </a:rPr>
              <a:t>Website Screenshot Placeholder 04: Resource Repository &amp; RAG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1101" y="4419600"/>
            <a:ext cx="5715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Insert screenshot of the Saarthi "Resources" tab showing indexed curriculum materials, topic tags, and retrieved reference exercises used to ground lesson plans.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9226" y="5172075"/>
            <a:ext cx="523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Route: /resources • Aspect Ratio: 16:9 Browser Viewport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133600"/>
            <a:ext cx="55669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6B1418"/>
                </a:solidFill>
                <a:latin typeface="Fraunces"/>
              </a:rPr>
              <a:t>Why Retrieval-Augmented Generation?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2476500"/>
            <a:ext cx="433670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Unconstrained LLMs often produce examples that mismatch local grade levels. RAG anchors lesson plans in verified exercises from our curated repository.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924300"/>
            <a:ext cx="55669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6B1418"/>
                </a:solidFill>
                <a:latin typeface="Fraunces"/>
              </a:rPr>
              <a:t>Technical Retrieval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4338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4267200"/>
            <a:ext cx="4146202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1. Ingestion: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Parse structured CSV templates and book problems into topic-tagged text chunks.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773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781550"/>
            <a:ext cx="4146202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2. Embedding: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Encode chunks into dense vector representations via SentenceTransformers.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7208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5295900"/>
            <a:ext cx="4146202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3. FAISS Indexing: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Store vectors in a fast similarity search index for low-latency lookup.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8643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5810250"/>
            <a:ext cx="4146202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4. Context Injection: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Pass top-k retrieved examples into the LLM prompt during lesson generation.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7F86543-BAAE-23CA-67F0-96DA9396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463" y="2290330"/>
            <a:ext cx="6574337" cy="39559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56398" y="2557462"/>
            <a:ext cx="6826001" cy="3209925"/>
          </a:xfrm>
          <a:prstGeom prst="roundRect">
            <a:avLst>
              <a:gd name="adj" fmla="val 2967"/>
            </a:avLst>
          </a:prstGeom>
          <a:solidFill>
            <a:srgbClr val="F9DCC4"/>
          </a:solidFill>
          <a:ln w="19050">
            <a:solidFill>
              <a:srgbClr val="6B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99" y="3109912"/>
            <a:ext cx="400050" cy="40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52917" y="1123950"/>
            <a:ext cx="26247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Data-Driven Continuity Across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55414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15 / LONGITUDINAL 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8965495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Progress Tracking &amp; Next-Session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66925"/>
            <a:ext cx="413411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1418"/>
                </a:solidFill>
                <a:latin typeface="Fraunces"/>
              </a:rPr>
              <a:t>Sustaining Momentum Week to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52725"/>
            <a:ext cx="3937248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By storing session histories in PostgreSQL, Saarthi prevents instructional reset between weekly visits and gives volunteers immediate clarity on what to teach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191" y="3662362"/>
            <a:ext cx="783641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6B1418"/>
                </a:solidFill>
                <a:latin typeface="Fraunces"/>
              </a:rPr>
              <a:t>Website Screenshot Placeholder 06: Student Progress &amp; Recommendations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3699" y="4291012"/>
            <a:ext cx="6191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Insert screenshot of the Student Progress view and Next-Session Recommendation panel showing multi-session score trends and actionable group pacing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7574" y="5043487"/>
            <a:ext cx="5143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Route: /progress • Aspect Ratio: 16:9 Browser Viewport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7576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781425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Longitudinal Trajectories: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Visualizes student score history across sequential sessions.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2910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314825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Sub-Group Readiness Alerts: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Highlights which students are ready to advance (e.g., from like to unlike fractions).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504348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5067300"/>
            <a:ext cx="3746748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Targeted Remediation Flags: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Pinpoints learners needing another visual-first pass.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557688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5600700"/>
            <a:ext cx="3746748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One-Click Regeneration: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Seeds the next session's lesson plan directly from recommendations.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E849C7-61AE-9036-3455-E54BC6545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617" y="1946562"/>
            <a:ext cx="7673334" cy="44317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9887"/>
            <a:ext cx="3595836" cy="3076575"/>
          </a:xfrm>
          <a:prstGeom prst="roundRect">
            <a:avLst>
              <a:gd name="adj" fmla="val 3095"/>
            </a:avLst>
          </a:prstGeom>
          <a:solidFill>
            <a:srgbClr val="F9DCC4"/>
          </a:solidFill>
          <a:ln w="19050">
            <a:solidFill>
              <a:srgbClr val="8C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72136" y="3028950"/>
            <a:ext cx="3595836" cy="2838450"/>
          </a:xfrm>
          <a:prstGeom prst="roundRect">
            <a:avLst>
              <a:gd name="adj" fmla="val 3355"/>
            </a:avLst>
          </a:prstGeom>
          <a:solidFill>
            <a:srgbClr val="F9DCC4"/>
          </a:solidFill>
          <a:ln w="19050">
            <a:solidFill>
              <a:srgbClr val="8C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34672" y="2781300"/>
            <a:ext cx="3247727" cy="3333750"/>
          </a:xfrm>
          <a:prstGeom prst="roundRect">
            <a:avLst>
              <a:gd name="adj" fmla="val 2346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181" y="3271837"/>
            <a:ext cx="3905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530" y="3390900"/>
            <a:ext cx="3429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9822" y="1259682"/>
            <a:ext cx="110680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2B2D2F"/>
                </a:solidFill>
                <a:latin typeface="Plus Jakarta Sans"/>
              </a:rPr>
              <a:t>To ensure </a:t>
            </a:r>
            <a:r>
              <a:rPr sz="1350" b="0" i="0" u="none" dirty="0" err="1">
                <a:solidFill>
                  <a:srgbClr val="2B2D2F"/>
                </a:solidFill>
                <a:latin typeface="Plus Jakarta Sans"/>
              </a:rPr>
              <a:t>Saarthi</a:t>
            </a:r>
            <a:r>
              <a:rPr sz="1350" b="0" i="0" u="none" dirty="0">
                <a:solidFill>
                  <a:srgbClr val="2B2D2F"/>
                </a:solidFill>
                <a:latin typeface="Plus Jakarta Sans"/>
              </a:rPr>
              <a:t> generates pedagogically sound activities rather than generic AI text, I curated learning materials from physical textbooks and structured them into standardized CSV templates for RAG indexing.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2694" y="6029325"/>
            <a:ext cx="373246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7F4F24"/>
                </a:solidFill>
                <a:latin typeface="Plus Jakarta Sans"/>
              </a:rPr>
              <a:t>From Physical Textbooks to Structured CSV Templates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916948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16 / DATA CURATION &amp; 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7802381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Collecting &amp; Structuring Data for Lesson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791" y="3748087"/>
            <a:ext cx="4069453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6B1418"/>
                </a:solidFill>
                <a:latin typeface="Fraunces"/>
              </a:rPr>
              <a:t>Evidence Placeholder A: Educational Books &amp; Worksheets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682" y="4538662"/>
            <a:ext cx="387567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Insert photographs of physical mathematics/reading books and reference worksheets used during sessions at A Ray of Hope Charitable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9193" y="5453062"/>
            <a:ext cx="2476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Source Material Photograph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5327" y="3867150"/>
            <a:ext cx="4069453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6B1418"/>
                </a:solidFill>
                <a:latin typeface="Fraunces"/>
              </a:rPr>
              <a:t>Evidence Placeholder B: Structured CSV Data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219" y="4419600"/>
            <a:ext cx="387567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5C3A21"/>
                </a:solidFill>
                <a:latin typeface="Plus Jakarta Sans"/>
              </a:rPr>
              <a:t>Insert screenshot of the CSV dataset containing columns for Grade, Subject, Topic, Difficulty Tier, Sample Problems, and Pedagogical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3605" y="5334000"/>
            <a:ext cx="2952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CSV Schema &amp; Ingestion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3272" y="3009900"/>
            <a:ext cx="3030066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B1418"/>
                </a:solidFill>
                <a:latin typeface="Fraunces"/>
              </a:rPr>
              <a:t>How Structured Data Powers Saarthi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8997" y="3576637"/>
            <a:ext cx="85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4722" y="3600450"/>
            <a:ext cx="2714327" cy="62865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B2D2F"/>
                </a:solidFill>
                <a:latin typeface="Plus Jakarta Sans"/>
              </a:rPr>
              <a:t>Schema Consistency:</a:t>
            </a:r>
            <a:r>
              <a:rPr sz="1275" b="0" i="0" u="none">
                <a:solidFill>
                  <a:srgbClr val="2B2D2F"/>
                </a:solidFill>
                <a:latin typeface="Plus Jakarta Sans"/>
              </a:rPr>
              <a:t> Maps concepts by prerequisite order and difficulty tier.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8997" y="4300537"/>
            <a:ext cx="85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4722" y="4324350"/>
            <a:ext cx="2714327" cy="62865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B2D2F"/>
                </a:solidFill>
                <a:latin typeface="Plus Jakarta Sans"/>
              </a:rPr>
              <a:t>Vector Indexing:</a:t>
            </a:r>
            <a:r>
              <a:rPr sz="1275" b="0" i="0" u="none">
                <a:solidFill>
                  <a:srgbClr val="2B2D2F"/>
                </a:solidFill>
                <a:latin typeface="Plus Jakarta Sans"/>
              </a:rPr>
              <a:t> Feeds clean text chunks into SentenceTransformers and FAISS.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8997" y="5024437"/>
            <a:ext cx="85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4722" y="5048250"/>
            <a:ext cx="2714327" cy="838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2B2D2F"/>
                </a:solidFill>
                <a:latin typeface="Plus Jakarta Sans"/>
              </a:rPr>
              <a:t>Tier Calibration:</a:t>
            </a:r>
            <a:r>
              <a:rPr sz="1275" b="0" i="0" u="none" dirty="0">
                <a:solidFill>
                  <a:srgbClr val="2B2D2F"/>
                </a:solidFill>
                <a:latin typeface="Plus Jakarta Sans"/>
              </a:rPr>
              <a:t> Supplies concrete baseline problems for Struggling, On Track, and Advanced activity generation.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28942D4-8EB6-3628-EDF4-C435984BC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9" y="1991805"/>
            <a:ext cx="1888151" cy="27704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B3B3F1-747E-0BF8-A4BE-24C28842C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450" y="1991805"/>
            <a:ext cx="2091236" cy="27704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0EB70BB-0DE3-3DCF-B0DA-3A40E07B3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9" y="4638675"/>
            <a:ext cx="2033639" cy="21135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B06F73B-0D25-3E2F-35E1-8C7057AAB9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4070" y="4595812"/>
            <a:ext cx="1974469" cy="22236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705692D-DBA7-1B7E-EBAF-F40E440811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2244" y="2909887"/>
            <a:ext cx="3650425" cy="31194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4778" y="2590800"/>
            <a:ext cx="3672929" cy="2990850"/>
          </a:xfrm>
          <a:prstGeom prst="roundRect">
            <a:avLst>
              <a:gd name="adj" fmla="val 3184"/>
            </a:avLst>
          </a:prstGeom>
          <a:solidFill>
            <a:srgbClr val="F9DCC4"/>
          </a:solidFill>
          <a:ln w="19050">
            <a:solidFill>
              <a:srgbClr val="6B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49229" y="2519362"/>
            <a:ext cx="3672929" cy="3228975"/>
          </a:xfrm>
          <a:prstGeom prst="roundRect">
            <a:avLst>
              <a:gd name="adj" fmla="val 2949"/>
            </a:avLst>
          </a:prstGeom>
          <a:solidFill>
            <a:srgbClr val="F9DCC4"/>
          </a:solidFill>
          <a:ln w="19050">
            <a:solidFill>
              <a:srgbClr val="6B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88858" y="1885950"/>
            <a:ext cx="3093392" cy="4495800"/>
          </a:xfrm>
          <a:prstGeom prst="roundRect">
            <a:avLst>
              <a:gd name="adj" fmla="val 2463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02" y="3076575"/>
            <a:ext cx="25717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307" y="2957512"/>
            <a:ext cx="428625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6192" y="1123950"/>
            <a:ext cx="309145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On-Ground Teaching in Wakad, Pimpri Chinchwad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997074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17 / FIELDWORK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8475434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Service Learning in Practice: Moments from My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751" y="3552825"/>
            <a:ext cx="40706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6B1418"/>
                </a:solidFill>
                <a:latin typeface="Fraunces"/>
              </a:rPr>
              <a:t>Field Photograph Placeholder 01: Classroom Group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671" y="4105275"/>
            <a:ext cx="3876786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Insert GPS-verified classroom teaching photograph showing group instruction and notebook exercises at Late Rambhau Dada Kalate Marg, Wakad.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865" y="5019675"/>
            <a:ext cx="3524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GPS Map Camera Evidence • Wakad, Pune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0380" y="3433762"/>
            <a:ext cx="4070625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6B1418"/>
                </a:solidFill>
                <a:latin typeface="Fraunces"/>
              </a:rPr>
              <a:t>Field Photograph Placeholder 02: Student Mentorship &amp; Encouragement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7300" y="4224337"/>
            <a:ext cx="3876786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C3A21"/>
                </a:solidFill>
                <a:latin typeface="Plus Jakarta Sans"/>
              </a:rPr>
              <a:t>Insert GPS-verified photograph capturing one-on-one mentoring and celebrating small student milestones outside/inside the center.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3494" y="5138737"/>
            <a:ext cx="3524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C2318"/>
                </a:solidFill>
                <a:latin typeface="JetBrains Mono"/>
              </a:rPr>
              <a:t>GPS Map Camera Evidence • Wakad, Pune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7458" y="2114550"/>
            <a:ext cx="2868014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B1418"/>
                </a:solidFill>
                <a:latin typeface="Fraunces"/>
              </a:rPr>
              <a:t>What Field Sessions Taught 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7458" y="2705100"/>
            <a:ext cx="273144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Showing up week after week turned abstract software requirements into human realities: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3183" y="3671887"/>
            <a:ext cx="85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8908" y="3695700"/>
            <a:ext cx="2559992" cy="838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B2D2F"/>
                </a:solidFill>
                <a:latin typeface="Plus Jakarta Sans"/>
              </a:rPr>
              <a:t>Trust Precedes Pedagogy:</a:t>
            </a:r>
            <a:r>
              <a:rPr sz="1275" b="0" i="0" u="none">
                <a:solidFill>
                  <a:srgbClr val="2B2D2F"/>
                </a:solidFill>
                <a:latin typeface="Plus Jakarta Sans"/>
              </a:rPr>
              <a:t> Children engage deeper when the same volunteer returns consistently.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3183" y="4586287"/>
            <a:ext cx="85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8908" y="4610100"/>
            <a:ext cx="2559992" cy="62865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B2D2F"/>
                </a:solidFill>
                <a:latin typeface="Plus Jakarta Sans"/>
              </a:rPr>
              <a:t>Small Wins Matter:</a:t>
            </a:r>
            <a:r>
              <a:rPr sz="1275" b="0" i="0" u="none">
                <a:solidFill>
                  <a:srgbClr val="2B2D2F"/>
                </a:solidFill>
                <a:latin typeface="Plus Jakarta Sans"/>
              </a:rPr>
              <a:t> Solving one fraction problem independently builds lasting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3183" y="5291137"/>
            <a:ext cx="85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8908" y="5314950"/>
            <a:ext cx="2559992" cy="838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B2D2F"/>
                </a:solidFill>
                <a:latin typeface="Plus Jakarta Sans"/>
              </a:rPr>
              <a:t>Practical Tooling:</a:t>
            </a:r>
            <a:r>
              <a:rPr sz="1275" b="0" i="0" u="none">
                <a:solidFill>
                  <a:srgbClr val="2B2D2F"/>
                </a:solidFill>
                <a:latin typeface="Plus Jakarta Sans"/>
              </a:rPr>
              <a:t> Classroom observations directly shaped Saarthi's 3-tier activity structure.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D59FAB5-8F6E-8EF7-3F6B-53C2F4BE9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53" y="2040680"/>
            <a:ext cx="2990841" cy="36790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1E59583-EDC0-73A8-80B8-C6CB7ABB2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5394" y="2060379"/>
            <a:ext cx="2738695" cy="367908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3863504-AA19-54D8-97C1-60B7842C1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6865" y="2057565"/>
            <a:ext cx="2501486" cy="36907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00DA7C-CE3D-347F-E764-A950BC955134}"/>
              </a:ext>
            </a:extLst>
          </p:cNvPr>
          <p:cNvSpPr/>
          <p:nvPr/>
        </p:nvSpPr>
        <p:spPr>
          <a:xfrm>
            <a:off x="0" y="0"/>
            <a:ext cx="12192000" cy="9559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MY GALLERY </a:t>
            </a:r>
            <a:r>
              <a:rPr lang="en-US" sz="4000" b="1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  <a:sym typeface="Wingdings" panose="05000000000000000000" pitchFamily="2" charset="2"/>
              </a:rPr>
              <a:t></a:t>
            </a:r>
            <a:endParaRPr lang="en-US" sz="4000" b="1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86F57-7CC8-2725-DD58-D56DAD1D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964"/>
            <a:ext cx="6096000" cy="59346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99254B-F62E-E56D-E7D2-6E815ED8C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955964"/>
            <a:ext cx="6149687" cy="59020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54168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A9238-7F5B-9398-697E-519A25B96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7" y="47297"/>
            <a:ext cx="5238184" cy="38517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40000"/>
                <a:lumOff val="6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D402FA-B574-DAE5-E1A9-49C73B362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228" y="2285537"/>
            <a:ext cx="4129182" cy="4572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0B7C64-2AA2-A2C9-574F-BAD862379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638" y="-21022"/>
            <a:ext cx="4216361" cy="37154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112B27-9251-4C9D-A4E5-92B75391B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7" y="3762704"/>
            <a:ext cx="5143500" cy="44931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D71A86-7595-E01D-28ED-43EC253A3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3641" y="-73572"/>
            <a:ext cx="3497823" cy="693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43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8DE05-ABD8-E6D0-B05E-E06CFB396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3948"/>
            <a:ext cx="3657600" cy="72128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C8DC11-B6CC-A10F-01E4-9698D0F92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-57150"/>
            <a:ext cx="6058749" cy="4010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9AF4A-03AF-72E6-8579-F08F798FA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953742"/>
            <a:ext cx="6058749" cy="3570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34E276-473E-21AA-92E6-5A6E4D0E5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349" y="-57150"/>
            <a:ext cx="2475651" cy="4128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2976AD-54B6-B2F1-2AC6-5BC06770E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6349" y="4070907"/>
            <a:ext cx="2475651" cy="278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94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81250"/>
            <a:ext cx="5314950" cy="3181350"/>
          </a:xfrm>
          <a:prstGeom prst="roundRect">
            <a:avLst>
              <a:gd name="adj" fmla="val 2395"/>
            </a:avLst>
          </a:prstGeom>
          <a:solidFill>
            <a:srgbClr val="FD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381250"/>
            <a:ext cx="5314950" cy="3181350"/>
          </a:xfrm>
          <a:prstGeom prst="roundRect">
            <a:avLst>
              <a:gd name="adj" fmla="val 2395"/>
            </a:avLst>
          </a:prstGeom>
          <a:solidFill>
            <a:srgbClr val="F9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15350" y="904875"/>
            <a:ext cx="3676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4F24"/>
                </a:solidFill>
                <a:latin typeface="Plus Jakarta Sans"/>
              </a:rPr>
              <a:t>Personal Growth as a Volunteer &amp;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7917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5382A"/>
                </a:solidFill>
                <a:latin typeface="JetBrains Mono"/>
              </a:rPr>
              <a:t>18 / CRITICAL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8313539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B1418"/>
                </a:solidFill>
                <a:latin typeface="Fraunces"/>
              </a:rPr>
              <a:t>Learning, Responsibility, and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2667000"/>
            <a:ext cx="622577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1418"/>
                </a:solidFill>
                <a:latin typeface="Fraunces"/>
              </a:rPr>
              <a:t>Civic &amp; Pedagogical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0527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076575"/>
            <a:ext cx="4648200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Accountability to Learners: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Recognizing that consistency and patience directly influence a child's willingness to tackle difficult concepts.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82428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848100"/>
            <a:ext cx="4648200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Respecting Individual Pace: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Moving away from one-size-fits-all instruction toward empathetic, tiered scaffolding.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5958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4619625"/>
            <a:ext cx="4648200" cy="6572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2D2F"/>
                </a:solidFill>
                <a:latin typeface="Plus Jakarta Sans"/>
              </a:rPr>
              <a:t>Community Grounding:</a:t>
            </a:r>
            <a:r>
              <a:rPr sz="1350" b="0" i="0" u="none">
                <a:solidFill>
                  <a:srgbClr val="2B2D2F"/>
                </a:solidFill>
                <a:latin typeface="Plus Jakarta Sans"/>
              </a:rPr>
              <a:t> Understanding how NGO volunteers operate under real time and resource constraints.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8450" y="305276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8450" y="3824287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3848100"/>
            <a:ext cx="4648200" cy="207749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2B2D2F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4595812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B2D2F"/>
                </a:solidFill>
                <a:latin typeface="Plus Jakarta Sans"/>
              </a:rPr>
              <a:t>•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A57538-175C-10B0-DBF5-921E74D8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022581"/>
            <a:ext cx="5568371" cy="43082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857500"/>
            <a:ext cx="762000" cy="381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90712" y="4267200"/>
            <a:ext cx="8410575" cy="923925"/>
          </a:xfrm>
          <a:prstGeom prst="roundRect">
            <a:avLst>
              <a:gd name="adj" fmla="val 8247"/>
            </a:avLst>
          </a:prstGeom>
          <a:solidFill>
            <a:srgbClr val="6B1418"/>
          </a:solidFill>
          <a:ln w="9525">
            <a:solidFill>
              <a:srgbClr val="8C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6937" y="1666875"/>
            <a:ext cx="7858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4A261"/>
                </a:solidFill>
                <a:latin typeface="JetBrains Mono"/>
              </a:rPr>
              <a:t>A RAY OF HOPE CHARITABLE TRUST • SERVICE LEARNING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0765" y="2009775"/>
            <a:ext cx="3750468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6EE"/>
                </a:solidFill>
                <a:latin typeface="Fraunce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4437" y="3124200"/>
            <a:ext cx="97631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DE8D7"/>
                </a:solidFill>
                <a:latin typeface="Plus Jakarta Sans"/>
              </a:rPr>
              <a:t>Individual contribution, shared mission — combining weekly classroom mentorship with thoughtful AI engineering to support personalized learning for every child.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191" y="4467225"/>
            <a:ext cx="388362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FFF6EE"/>
                </a:solidFill>
                <a:latin typeface="Fraunces"/>
              </a:rPr>
              <a:t>Utkarsh Singh</a:t>
            </a:r>
            <a:r>
              <a:rPr lang="en-US" b="1" dirty="0">
                <a:solidFill>
                  <a:srgbClr val="FFF6EE"/>
                </a:solidFill>
                <a:latin typeface="Fraunces"/>
              </a:rPr>
              <a:t>, Group – 13, 24070122224</a:t>
            </a:r>
            <a:endParaRPr sz="1800" b="1" i="0" u="none" dirty="0">
              <a:solidFill>
                <a:srgbClr val="FFF6EE"/>
              </a:solidFill>
              <a:latin typeface="Fraunc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100</TotalTime>
  <Words>2170</Words>
  <Application>Microsoft Office PowerPoint</Application>
  <PresentationFormat>Widescreen</PresentationFormat>
  <Paragraphs>270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 Black</vt:lpstr>
      <vt:lpstr>JetBrains Mono</vt:lpstr>
      <vt:lpstr>Fraunces</vt:lpstr>
      <vt:lpstr>Aptos Narrow</vt:lpstr>
      <vt:lpstr>Aptos</vt:lpstr>
      <vt:lpstr>Arial</vt:lpstr>
      <vt:lpstr>MV Boli</vt:lpstr>
      <vt:lpstr>Plus Jakarta Sans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Utkarsh Singh</dc:creator>
  <cp:keywords/>
  <dc:description>generated using python-pptx</dc:description>
  <cp:lastModifiedBy>Utkarsh Singh</cp:lastModifiedBy>
  <cp:revision>5</cp:revision>
  <dcterms:created xsi:type="dcterms:W3CDTF">2013-01-27T09:14:16Z</dcterms:created>
  <dcterms:modified xsi:type="dcterms:W3CDTF">2026-10-24T04:14:36Z</dcterms:modified>
  <cp:category/>
</cp:coreProperties>
</file>