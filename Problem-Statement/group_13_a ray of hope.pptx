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2" d="100"/>
          <a:sy n="122" d="100"/>
        </p:scale>
        <p:origin x="88" y="1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944392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karshTD/Saarthi.git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881360" y="640080"/>
            <a:ext cx="201168" cy="201168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3" name="Shape 1"/>
          <p:cNvSpPr/>
          <p:nvPr/>
        </p:nvSpPr>
        <p:spPr>
          <a:xfrm>
            <a:off x="11292840" y="1051560"/>
            <a:ext cx="109728" cy="109728"/>
          </a:xfrm>
          <a:prstGeom prst="ellipse">
            <a:avLst/>
          </a:prstGeom>
          <a:solidFill>
            <a:srgbClr val="6C7FD8"/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5760720"/>
            <a:ext cx="164592" cy="164592"/>
          </a:xfrm>
          <a:prstGeom prst="ellipse">
            <a:avLst/>
          </a:prstGeom>
          <a:solidFill>
            <a:srgbClr val="4FBFA8"/>
          </a:solidFill>
          <a:ln/>
        </p:spPr>
      </p:sp>
      <p:sp>
        <p:nvSpPr>
          <p:cNvPr id="5" name="Shape 3"/>
          <p:cNvSpPr/>
          <p:nvPr/>
        </p:nvSpPr>
        <p:spPr>
          <a:xfrm>
            <a:off x="1051560" y="6080760"/>
            <a:ext cx="91440" cy="91440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6" name="Shape 4"/>
          <p:cNvSpPr/>
          <p:nvPr/>
        </p:nvSpPr>
        <p:spPr>
          <a:xfrm>
            <a:off x="10607040" y="5852160"/>
            <a:ext cx="128016" cy="128016"/>
          </a:xfrm>
          <a:prstGeom prst="ellipse">
            <a:avLst/>
          </a:prstGeom>
          <a:solidFill>
            <a:srgbClr val="6C7FD8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233172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kern="0" spc="100" dirty="0">
                <a:solidFill>
                  <a:srgbClr val="2E2A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MY CONTRIBUTION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822960" y="3200400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6C7F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Ray of Hope Charitable Trust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822960" y="3794760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B66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volunteer, two ways of showing up — in the classroom, and in code.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22960" y="60350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E2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Utkarsh  ·  Individual Volunteer &amp; Builder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475720" y="502920"/>
            <a:ext cx="146304" cy="146304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3" name="Shape 1"/>
          <p:cNvSpPr/>
          <p:nvPr/>
        </p:nvSpPr>
        <p:spPr>
          <a:xfrm>
            <a:off x="11750040" y="868680"/>
            <a:ext cx="82296" cy="82296"/>
          </a:xfrm>
          <a:prstGeom prst="ellipse">
            <a:avLst/>
          </a:prstGeom>
          <a:solidFill>
            <a:srgbClr val="6C7FD8"/>
          </a:solidFill>
          <a:ln/>
        </p:spPr>
      </p:sp>
      <p:sp>
        <p:nvSpPr>
          <p:cNvPr id="4" name="Shape 2"/>
          <p:cNvSpPr/>
          <p:nvPr/>
        </p:nvSpPr>
        <p:spPr>
          <a:xfrm>
            <a:off x="411480" y="6355080"/>
            <a:ext cx="109728" cy="109728"/>
          </a:xfrm>
          <a:prstGeom prst="ellipse">
            <a:avLst/>
          </a:prstGeom>
          <a:solidFill>
            <a:srgbClr val="4FBFA8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5943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6C7F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I AM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22960" y="868680"/>
            <a:ext cx="6400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3200" b="1" dirty="0">
                <a:solidFill>
                  <a:srgbClr val="2E2A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 INDIVIDUAL EFFORT,</a:t>
            </a:r>
            <a:endParaRPr lang="en-US" sz="32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3200" b="1" dirty="0">
                <a:solidFill>
                  <a:srgbClr val="2E2A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SAME MISSION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822960" y="2359152"/>
            <a:ext cx="329184" cy="329184"/>
          </a:xfrm>
          <a:prstGeom prst="ellipse">
            <a:avLst/>
          </a:prstGeom>
          <a:solidFill>
            <a:srgbClr val="EEF0FC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235915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6C7F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325880" y="2286000"/>
            <a:ext cx="5166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2E2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team, no hand-offs
</a:t>
            </a:r>
            <a:endParaRPr lang="en-US" sz="14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B66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part of this — from teaching to the tool itself — is my own work, end to end.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822960" y="3273552"/>
            <a:ext cx="329184" cy="329184"/>
          </a:xfrm>
          <a:prstGeom prst="ellipse">
            <a:avLst/>
          </a:prstGeom>
          <a:solidFill>
            <a:srgbClr val="EEF0FC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327355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6C7F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325880" y="3200400"/>
            <a:ext cx="5166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2E2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mission as every volunteer here
</a:t>
            </a:r>
            <a:endParaRPr lang="en-US" sz="14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B66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Helping children in the Trust's care get a fair shot at learning, despite limited resources at home.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822960" y="4187952"/>
            <a:ext cx="329184" cy="329184"/>
          </a:xfrm>
          <a:prstGeom prst="ellipse">
            <a:avLst/>
          </a:prstGeom>
          <a:solidFill>
            <a:srgbClr val="EEF0FC"/>
          </a:solidFill>
          <a:ln/>
        </p:spPr>
      </p:sp>
      <p:sp>
        <p:nvSpPr>
          <p:cNvPr id="14" name="Text 12"/>
          <p:cNvSpPr/>
          <p:nvPr/>
        </p:nvSpPr>
        <p:spPr>
          <a:xfrm>
            <a:off x="822960" y="418795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6C7F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325880" y="4114800"/>
            <a:ext cx="5166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2E2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ways of contributing
</a:t>
            </a:r>
            <a:endParaRPr lang="en-US" sz="14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B66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 teaching time each week, and a software tool that helps every volunteer's session go further.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822960" y="5102352"/>
            <a:ext cx="329184" cy="329184"/>
          </a:xfrm>
          <a:prstGeom prst="ellipse">
            <a:avLst/>
          </a:prstGeom>
          <a:solidFill>
            <a:srgbClr val="EEF0FC"/>
          </a:solidFill>
          <a:ln/>
        </p:spPr>
      </p:sp>
      <p:sp>
        <p:nvSpPr>
          <p:cNvPr id="17" name="Text 15"/>
          <p:cNvSpPr/>
          <p:nvPr/>
        </p:nvSpPr>
        <p:spPr>
          <a:xfrm>
            <a:off x="822960" y="510235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6C7F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325880" y="5029200"/>
            <a:ext cx="5166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2E2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ownership
</a:t>
            </a:r>
            <a:endParaRPr lang="en-US" sz="14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B66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noticing the problem, to designing the response, to shipping a working prototype.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7269480" y="868680"/>
            <a:ext cx="4114800" cy="5120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3000" dirty="0"/>
          </a:p>
        </p:txBody>
      </p:sp>
      <p:sp>
        <p:nvSpPr>
          <p:cNvPr id="21" name="Text 19"/>
          <p:cNvSpPr/>
          <p:nvPr/>
        </p:nvSpPr>
        <p:spPr>
          <a:xfrm>
            <a:off x="11365992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66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D1831043-94A8-2B97-BDED-7523990E5F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08648" y="1946366"/>
            <a:ext cx="4840224" cy="3630168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DF0D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128016" cy="128016"/>
          </a:xfrm>
          <a:prstGeom prst="ellipse">
            <a:avLst/>
          </a:prstGeom>
          <a:solidFill>
            <a:srgbClr val="4FBFA8"/>
          </a:solidFill>
          <a:ln/>
        </p:spPr>
      </p:sp>
      <p:sp>
        <p:nvSpPr>
          <p:cNvPr id="3" name="Shape 1"/>
          <p:cNvSpPr/>
          <p:nvPr/>
        </p:nvSpPr>
        <p:spPr>
          <a:xfrm>
            <a:off x="11521440" y="6263640"/>
            <a:ext cx="146304" cy="146304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5943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INVOLVEMENT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822960" y="86868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E2A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I SHOW UP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822960" y="146304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B66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don't just contribute from a distance — I show up in person, and I keep coming back.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822960" y="2331720"/>
            <a:ext cx="2468880" cy="3200400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9C8F6E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1051560" y="2606040"/>
            <a:ext cx="502920" cy="502920"/>
          </a:xfrm>
          <a:prstGeom prst="ellipse">
            <a:avLst/>
          </a:prstGeom>
          <a:solidFill>
            <a:srgbClr val="FDF0DC"/>
          </a:solidFill>
          <a:ln/>
        </p:spPr>
      </p:sp>
      <p:sp>
        <p:nvSpPr>
          <p:cNvPr id="9" name="Text 7"/>
          <p:cNvSpPr/>
          <p:nvPr/>
        </p:nvSpPr>
        <p:spPr>
          <a:xfrm>
            <a:off x="1051560" y="26060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051560" y="329184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E2A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 Teach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051560" y="3703320"/>
            <a:ext cx="201168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B66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One-on-one or in small groups, patiently, at a pace every child can keep up with.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3547872" y="2331720"/>
            <a:ext cx="2468880" cy="3200400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9C8F6E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776472" y="2606040"/>
            <a:ext cx="502920" cy="502920"/>
          </a:xfrm>
          <a:prstGeom prst="ellipse">
            <a:avLst/>
          </a:prstGeom>
          <a:solidFill>
            <a:srgbClr val="FDF0DC"/>
          </a:solidFill>
          <a:ln/>
        </p:spPr>
      </p:sp>
      <p:sp>
        <p:nvSpPr>
          <p:cNvPr id="14" name="Text 12"/>
          <p:cNvSpPr/>
          <p:nvPr/>
        </p:nvSpPr>
        <p:spPr>
          <a:xfrm>
            <a:off x="3776472" y="26060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3776472" y="329184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E2A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 Mentor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3776472" y="3703320"/>
            <a:ext cx="201168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B66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Following up between sessions so progress doesn't stall between visits.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272784" y="2331720"/>
            <a:ext cx="2468880" cy="3200400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9C8F6E">
                <a:alpha val="1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501384" y="2606040"/>
            <a:ext cx="502920" cy="502920"/>
          </a:xfrm>
          <a:prstGeom prst="ellipse">
            <a:avLst/>
          </a:prstGeom>
          <a:solidFill>
            <a:srgbClr val="FDF0DC"/>
          </a:solidFill>
          <a:ln/>
        </p:spPr>
      </p:sp>
      <p:sp>
        <p:nvSpPr>
          <p:cNvPr id="19" name="Text 17"/>
          <p:cNvSpPr/>
          <p:nvPr/>
        </p:nvSpPr>
        <p:spPr>
          <a:xfrm>
            <a:off x="6501384" y="26060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501384" y="329184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E2A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 Encourage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501384" y="3703320"/>
            <a:ext cx="201168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B66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Celebrating every small win — a finished worksheet, a hard problem solved.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8997696" y="2331720"/>
            <a:ext cx="2468880" cy="3200400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9C8F6E">
                <a:alpha val="1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9226296" y="2606040"/>
            <a:ext cx="502920" cy="502920"/>
          </a:xfrm>
          <a:prstGeom prst="ellipse">
            <a:avLst/>
          </a:prstGeom>
          <a:solidFill>
            <a:srgbClr val="FDF0DC"/>
          </a:solidFill>
          <a:ln/>
        </p:spPr>
      </p:sp>
      <p:sp>
        <p:nvSpPr>
          <p:cNvPr id="24" name="Text 22"/>
          <p:cNvSpPr/>
          <p:nvPr/>
        </p:nvSpPr>
        <p:spPr>
          <a:xfrm>
            <a:off x="9226296" y="26060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9226296" y="329184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E2A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 Return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9226296" y="3703320"/>
            <a:ext cx="201168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B66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 one-off visit — the same face, week after week, building real trust.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11365992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66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475720" y="502920"/>
            <a:ext cx="146304" cy="146304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3" name="Shape 1"/>
          <p:cNvSpPr/>
          <p:nvPr/>
        </p:nvSpPr>
        <p:spPr>
          <a:xfrm>
            <a:off x="11750040" y="868680"/>
            <a:ext cx="82296" cy="82296"/>
          </a:xfrm>
          <a:prstGeom prst="ellipse">
            <a:avLst/>
          </a:prstGeom>
          <a:solidFill>
            <a:srgbClr val="6C7FD8"/>
          </a:solidFill>
          <a:ln/>
        </p:spPr>
      </p:sp>
      <p:sp>
        <p:nvSpPr>
          <p:cNvPr id="4" name="Shape 2"/>
          <p:cNvSpPr/>
          <p:nvPr/>
        </p:nvSpPr>
        <p:spPr>
          <a:xfrm>
            <a:off x="411480" y="6355080"/>
            <a:ext cx="109728" cy="109728"/>
          </a:xfrm>
          <a:prstGeom prst="ellipse">
            <a:avLst/>
          </a:prstGeom>
          <a:solidFill>
            <a:srgbClr val="4FBFA8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5943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4FB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FOCUS AREAS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22960" y="868680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E2A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 FOCUS ON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822960" y="1508760"/>
            <a:ext cx="5760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6B66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session mixes steady academic support with the patience to let a child learn at their own pace.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822960" y="2514600"/>
            <a:ext cx="310896" cy="310896"/>
          </a:xfrm>
          <a:prstGeom prst="roundRect">
            <a:avLst>
              <a:gd name="adj" fmla="val 23529"/>
            </a:avLst>
          </a:prstGeom>
          <a:solidFill>
            <a:srgbClr val="EEF0FC"/>
          </a:solidFill>
          <a:ln/>
        </p:spPr>
      </p:sp>
      <p:sp>
        <p:nvSpPr>
          <p:cNvPr id="9" name="Text 7"/>
          <p:cNvSpPr/>
          <p:nvPr/>
        </p:nvSpPr>
        <p:spPr>
          <a:xfrm>
            <a:off x="1325880" y="2441448"/>
            <a:ext cx="4663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2E2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Mathematics
</a:t>
            </a:r>
            <a:endParaRPr lang="en-US" sz="14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B66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number confidence, one concept at a time.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822960" y="3566160"/>
            <a:ext cx="310896" cy="310896"/>
          </a:xfrm>
          <a:prstGeom prst="roundRect">
            <a:avLst>
              <a:gd name="adj" fmla="val 23529"/>
            </a:avLst>
          </a:prstGeom>
          <a:solidFill>
            <a:srgbClr val="FDF0DC"/>
          </a:solidFill>
          <a:ln/>
        </p:spPr>
      </p:sp>
      <p:sp>
        <p:nvSpPr>
          <p:cNvPr id="11" name="Text 9"/>
          <p:cNvSpPr/>
          <p:nvPr/>
        </p:nvSpPr>
        <p:spPr>
          <a:xfrm>
            <a:off x="1325880" y="3493008"/>
            <a:ext cx="4663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2E2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Personalized pacing
</a:t>
            </a:r>
            <a:endParaRPr lang="en-US" sz="14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B66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 support where it's needed, more challenge where a child is ready.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822960" y="4617720"/>
            <a:ext cx="310896" cy="310896"/>
          </a:xfrm>
          <a:prstGeom prst="roundRect">
            <a:avLst>
              <a:gd name="adj" fmla="val 23529"/>
            </a:avLst>
          </a:prstGeom>
          <a:solidFill>
            <a:srgbClr val="E9F8F3"/>
          </a:solidFill>
          <a:ln/>
        </p:spPr>
      </p:sp>
      <p:sp>
        <p:nvSpPr>
          <p:cNvPr id="13" name="Text 11"/>
          <p:cNvSpPr/>
          <p:nvPr/>
        </p:nvSpPr>
        <p:spPr>
          <a:xfrm>
            <a:off x="1325880" y="4544568"/>
            <a:ext cx="4663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2E2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Consistency
</a:t>
            </a:r>
            <a:endParaRPr lang="en-US" sz="14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B66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volunteer, every week — so children know someone is showing up for them.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949440" y="914400"/>
            <a:ext cx="4434840" cy="5074920"/>
          </a:xfrm>
          <a:prstGeom prst="roundRect">
            <a:avLst>
              <a:gd name="adj" fmla="val 2887"/>
            </a:avLst>
          </a:prstGeom>
          <a:solidFill>
            <a:srgbClr val="E9F8F3"/>
          </a:solidFill>
          <a:ln/>
        </p:spPr>
      </p:sp>
      <p:sp>
        <p:nvSpPr>
          <p:cNvPr id="15" name="Shape 13"/>
          <p:cNvSpPr/>
          <p:nvPr/>
        </p:nvSpPr>
        <p:spPr>
          <a:xfrm>
            <a:off x="7315200" y="1371600"/>
            <a:ext cx="1737360" cy="594360"/>
          </a:xfrm>
          <a:prstGeom prst="roundRect">
            <a:avLst>
              <a:gd name="adj" fmla="val 49231"/>
            </a:avLst>
          </a:prstGeom>
          <a:solidFill>
            <a:srgbClr val="FFFFFF"/>
          </a:solidFill>
          <a:ln w="12700">
            <a:solidFill>
              <a:srgbClr val="4FBFA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315200" y="1371600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2E2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Fractions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9326880" y="1371600"/>
            <a:ext cx="1737360" cy="594360"/>
          </a:xfrm>
          <a:prstGeom prst="roundRect">
            <a:avLst>
              <a:gd name="adj" fmla="val 49231"/>
            </a:avLst>
          </a:prstGeom>
          <a:solidFill>
            <a:srgbClr val="FFFFFF"/>
          </a:solidFill>
          <a:ln w="12700">
            <a:solidFill>
              <a:srgbClr val="4FBFA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326880" y="1371600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2E2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Problems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7315200" y="2286000"/>
            <a:ext cx="1737360" cy="594360"/>
          </a:xfrm>
          <a:prstGeom prst="roundRect">
            <a:avLst>
              <a:gd name="adj" fmla="val 49231"/>
            </a:avLst>
          </a:prstGeom>
          <a:solidFill>
            <a:srgbClr val="FFFFFF"/>
          </a:solidFill>
          <a:ln w="12700">
            <a:solidFill>
              <a:srgbClr val="4FBFA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315200" y="2286000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2E2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Mental Math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9326880" y="2286000"/>
            <a:ext cx="1737360" cy="594360"/>
          </a:xfrm>
          <a:prstGeom prst="roundRect">
            <a:avLst>
              <a:gd name="adj" fmla="val 49231"/>
            </a:avLst>
          </a:prstGeom>
          <a:solidFill>
            <a:srgbClr val="FFFFFF"/>
          </a:solidFill>
          <a:ln w="12700">
            <a:solidFill>
              <a:srgbClr val="4FBFA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326880" y="2286000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2E2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Support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7315200" y="3200400"/>
            <a:ext cx="1737360" cy="594360"/>
          </a:xfrm>
          <a:prstGeom prst="roundRect">
            <a:avLst>
              <a:gd name="adj" fmla="val 49231"/>
            </a:avLst>
          </a:prstGeom>
          <a:solidFill>
            <a:srgbClr val="FFFFFF"/>
          </a:solidFill>
          <a:ln w="12700">
            <a:solidFill>
              <a:srgbClr val="4FBFA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315200" y="3200400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2E2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 &amp; Patience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9326880" y="3200400"/>
            <a:ext cx="1737360" cy="594360"/>
          </a:xfrm>
          <a:prstGeom prst="roundRect">
            <a:avLst>
              <a:gd name="adj" fmla="val 49231"/>
            </a:avLst>
          </a:prstGeom>
          <a:solidFill>
            <a:srgbClr val="FFFFFF"/>
          </a:solidFill>
          <a:ln w="12700">
            <a:solidFill>
              <a:srgbClr val="4FBFA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326880" y="3200400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2E2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7315200" y="4617720"/>
            <a:ext cx="3703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6B66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Subjects &amp; skills I work on with children each week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11365992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66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EF0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128016" cy="128016"/>
          </a:xfrm>
          <a:prstGeom prst="ellipse">
            <a:avLst/>
          </a:prstGeom>
          <a:solidFill>
            <a:srgbClr val="4FBFA8"/>
          </a:solidFill>
          <a:ln/>
        </p:spPr>
      </p:sp>
      <p:sp>
        <p:nvSpPr>
          <p:cNvPr id="3" name="Shape 1"/>
          <p:cNvSpPr/>
          <p:nvPr/>
        </p:nvSpPr>
        <p:spPr>
          <a:xfrm>
            <a:off x="11521440" y="6263640"/>
            <a:ext cx="146304" cy="146304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777240"/>
            <a:ext cx="2377440" cy="38404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77724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6C7F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PROTOTYPE · ACTIVE DEVELOPMENT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822960" y="137160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2E2A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MY PROJECT: SAARTHI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822960" y="2011680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6C7F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Volunteer Copilot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22960" y="2697480"/>
            <a:ext cx="7863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2E2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Volunteers here often work with limited prep time and classrooms where every child understands things a little differently. Saarthi is a tool I'm building, on my own, to turn that limited prep time into personalized lesson plans, differentiated activities, and a clear plan for the next session — so every volunteer's hour with a child counts for more.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822960" y="4434840"/>
            <a:ext cx="2514600" cy="777240"/>
          </a:xfrm>
          <a:prstGeom prst="roundRect">
            <a:avLst>
              <a:gd name="adj" fmla="val 14118"/>
            </a:avLst>
          </a:prstGeom>
          <a:solidFill>
            <a:srgbClr val="FFFFFF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4434840"/>
            <a:ext cx="2514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
</a:t>
            </a:r>
            <a:endParaRPr lang="en-US" sz="950" dirty="0"/>
          </a:p>
          <a:p>
            <a:pPr marL="0" indent="0" algn="ctr">
              <a:buNone/>
            </a:pPr>
            <a:r>
              <a:rPr lang="en-US" sz="1250" b="1" dirty="0">
                <a:solidFill>
                  <a:srgbClr val="2E2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the lesson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520440" y="4434840"/>
            <a:ext cx="2514600" cy="777240"/>
          </a:xfrm>
          <a:prstGeom prst="roundRect">
            <a:avLst>
              <a:gd name="adj" fmla="val 14118"/>
            </a:avLst>
          </a:prstGeom>
          <a:solidFill>
            <a:srgbClr val="FFFFFF"/>
          </a:solidFill>
          <a:ln/>
        </p:spPr>
      </p:sp>
      <p:sp>
        <p:nvSpPr>
          <p:cNvPr id="12" name="Text 10"/>
          <p:cNvSpPr/>
          <p:nvPr/>
        </p:nvSpPr>
        <p:spPr>
          <a:xfrm>
            <a:off x="3520440" y="4434840"/>
            <a:ext cx="2514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
</a:t>
            </a:r>
            <a:endParaRPr lang="en-US" sz="950" dirty="0"/>
          </a:p>
          <a:p>
            <a:pPr marL="0" indent="0" algn="ctr">
              <a:buNone/>
            </a:pPr>
            <a:r>
              <a:rPr lang="en-US" sz="1250" b="1" dirty="0">
                <a:solidFill>
                  <a:srgbClr val="2E2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 &amp; assess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6217920" y="4434840"/>
            <a:ext cx="2514600" cy="777240"/>
          </a:xfrm>
          <a:prstGeom prst="roundRect">
            <a:avLst>
              <a:gd name="adj" fmla="val 14118"/>
            </a:avLst>
          </a:prstGeom>
          <a:solidFill>
            <a:srgbClr val="FFFFFF"/>
          </a:solidFill>
          <a:ln/>
        </p:spPr>
      </p:sp>
      <p:sp>
        <p:nvSpPr>
          <p:cNvPr id="14" name="Text 12"/>
          <p:cNvSpPr/>
          <p:nvPr/>
        </p:nvSpPr>
        <p:spPr>
          <a:xfrm>
            <a:off x="6217920" y="4434840"/>
            <a:ext cx="2514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
</a:t>
            </a:r>
            <a:endParaRPr lang="en-US" sz="950" dirty="0"/>
          </a:p>
          <a:p>
            <a:pPr marL="0" indent="0" algn="ctr">
              <a:buNone/>
            </a:pPr>
            <a:r>
              <a:rPr lang="en-US" sz="1250" b="1" dirty="0">
                <a:solidFill>
                  <a:srgbClr val="2E2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 what's next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822960" y="553212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B66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mission as the Trust: better, more personal learning support for every child — built to scale beyond just my own sessions.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9006840" y="2697480"/>
            <a:ext cx="23774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11365992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66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1E6BDF36-909A-9F37-4DB5-A2571D4ED800}"/>
              </a:ext>
            </a:extLst>
          </p:cNvPr>
          <p:cNvSpPr/>
          <p:nvPr/>
        </p:nvSpPr>
        <p:spPr>
          <a:xfrm>
            <a:off x="9396113" y="2649147"/>
            <a:ext cx="2067850" cy="1975104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 w="76200">
            <a:solidFill>
              <a:srgbClr val="00B0F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hlinkClick r:id="rId3"/>
              </a:rPr>
              <a:t>GitHub repo</a:t>
            </a:r>
            <a:endParaRPr 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475720" y="502920"/>
            <a:ext cx="146304" cy="146304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3" name="Shape 1"/>
          <p:cNvSpPr/>
          <p:nvPr/>
        </p:nvSpPr>
        <p:spPr>
          <a:xfrm>
            <a:off x="11750040" y="868680"/>
            <a:ext cx="82296" cy="82296"/>
          </a:xfrm>
          <a:prstGeom prst="ellipse">
            <a:avLst/>
          </a:prstGeom>
          <a:solidFill>
            <a:srgbClr val="6C7FD8"/>
          </a:solidFill>
          <a:ln/>
        </p:spPr>
      </p:sp>
      <p:sp>
        <p:nvSpPr>
          <p:cNvPr id="4" name="Shape 2"/>
          <p:cNvSpPr/>
          <p:nvPr/>
        </p:nvSpPr>
        <p:spPr>
          <a:xfrm>
            <a:off x="411480" y="6355080"/>
            <a:ext cx="109728" cy="109728"/>
          </a:xfrm>
          <a:prstGeom prst="ellipse">
            <a:avLst/>
          </a:prstGeom>
          <a:solidFill>
            <a:srgbClr val="4FBFA8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5029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SAARTHI · UNDER THE HOOD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22960" y="77724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E2A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IT'S BUILT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822960" y="132588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6B66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straightforward architecture — real APIs and a real database behind the AI layer, not a black box.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727448" y="1874520"/>
            <a:ext cx="2743200" cy="566928"/>
          </a:xfrm>
          <a:prstGeom prst="roundRect">
            <a:avLst>
              <a:gd name="adj" fmla="val 12903"/>
            </a:avLst>
          </a:prstGeom>
          <a:solidFill>
            <a:srgbClr val="6C7FD8"/>
          </a:solidFill>
          <a:ln/>
          <a:effectLst>
            <a:outerShdw blurRad="63500" dist="25400" dir="5400000" algn="bl" rotWithShape="0">
              <a:srgbClr val="5B5480">
                <a:alpha val="1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727448" y="1874520"/>
            <a:ext cx="2743200" cy="56692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/ Next.js</a:t>
            </a:r>
            <a:endParaRPr lang="en-US" sz="125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Volunteer-facing frontend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727448" y="2697480"/>
            <a:ext cx="2743200" cy="566928"/>
          </a:xfrm>
          <a:prstGeom prst="roundRect">
            <a:avLst>
              <a:gd name="adj" fmla="val 12903"/>
            </a:avLst>
          </a:prstGeom>
          <a:solidFill>
            <a:srgbClr val="6C7FD8"/>
          </a:solidFill>
          <a:ln/>
          <a:effectLst>
            <a:outerShdw blurRad="63500" dist="25400" dir="5400000" algn="bl" rotWithShape="0">
              <a:srgbClr val="5B5480">
                <a:alpha val="1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727448" y="2697480"/>
            <a:ext cx="2743200" cy="56692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Backend</a:t>
            </a:r>
            <a:endParaRPr lang="en-US" sz="125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 layer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099048" y="2441448"/>
            <a:ext cx="0" cy="256032"/>
          </a:xfrm>
          <a:prstGeom prst="line">
            <a:avLst/>
          </a:prstGeom>
          <a:noFill/>
          <a:ln w="19050">
            <a:solidFill>
              <a:srgbClr val="6B6685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1796796" y="3657600"/>
            <a:ext cx="2651760" cy="777240"/>
          </a:xfrm>
          <a:prstGeom prst="roundRect">
            <a:avLst>
              <a:gd name="adj" fmla="val 9412"/>
            </a:avLst>
          </a:prstGeom>
          <a:solidFill>
            <a:srgbClr val="EEF0FC"/>
          </a:solidFill>
          <a:ln/>
          <a:effectLst>
            <a:outerShdw blurRad="63500" dist="25400" dir="5400000" algn="bl" rotWithShape="0">
              <a:srgbClr val="5B5480">
                <a:alpha val="1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1796796" y="3657600"/>
            <a:ext cx="2651760" cy="7772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2E2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</a:t>
            </a:r>
            <a:endParaRPr lang="en-US" sz="125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950" dirty="0">
                <a:solidFill>
                  <a:srgbClr val="2E2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&amp; session data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4768596" y="3657600"/>
            <a:ext cx="2651760" cy="777240"/>
          </a:xfrm>
          <a:prstGeom prst="roundRect">
            <a:avLst>
              <a:gd name="adj" fmla="val 9412"/>
            </a:avLst>
          </a:prstGeom>
          <a:solidFill>
            <a:srgbClr val="FDF0DC"/>
          </a:solidFill>
          <a:ln/>
          <a:effectLst>
            <a:outerShdw blurRad="63500" dist="25400" dir="5400000" algn="bl" rotWithShape="0">
              <a:srgbClr val="5B5480">
                <a:alpha val="1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768596" y="3657600"/>
            <a:ext cx="2651760" cy="7772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2E2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Services</a:t>
            </a:r>
            <a:endParaRPr lang="en-US" sz="125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950" dirty="0">
                <a:solidFill>
                  <a:srgbClr val="2E2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Planner + Analyzer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7740396" y="3657600"/>
            <a:ext cx="2651760" cy="777240"/>
          </a:xfrm>
          <a:prstGeom prst="roundRect">
            <a:avLst>
              <a:gd name="adj" fmla="val 9412"/>
            </a:avLst>
          </a:prstGeom>
          <a:solidFill>
            <a:srgbClr val="E9F8F3"/>
          </a:solidFill>
          <a:ln/>
          <a:effectLst>
            <a:outerShdw blurRad="63500" dist="25400" dir="5400000" algn="bl" rotWithShape="0">
              <a:srgbClr val="5B5480">
                <a:alpha val="1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7740396" y="3657600"/>
            <a:ext cx="2651760" cy="7772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2E2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FAISS</a:t>
            </a:r>
            <a:endParaRPr lang="en-US" sz="125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950" dirty="0">
                <a:solidFill>
                  <a:srgbClr val="2E2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 retrieval (RAG)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 flipH="1">
            <a:off x="3122676" y="3264408"/>
            <a:ext cx="2976372" cy="393192"/>
          </a:xfrm>
          <a:prstGeom prst="line">
            <a:avLst/>
          </a:prstGeom>
          <a:noFill/>
          <a:ln w="19050">
            <a:solidFill>
              <a:srgbClr val="6B6685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 flipH="1">
            <a:off x="6094476" y="3264408"/>
            <a:ext cx="4572" cy="393192"/>
          </a:xfrm>
          <a:prstGeom prst="line">
            <a:avLst/>
          </a:prstGeom>
          <a:noFill/>
          <a:ln w="19050">
            <a:solidFill>
              <a:srgbClr val="6B6685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6099048" y="3264408"/>
            <a:ext cx="2967228" cy="393192"/>
          </a:xfrm>
          <a:prstGeom prst="line">
            <a:avLst/>
          </a:prstGeom>
          <a:noFill/>
          <a:ln w="19050">
            <a:solidFill>
              <a:srgbClr val="6B6685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4768596" y="4800600"/>
            <a:ext cx="2651760" cy="566928"/>
          </a:xfrm>
          <a:prstGeom prst="roundRect">
            <a:avLst>
              <a:gd name="adj" fmla="val 12903"/>
            </a:avLst>
          </a:prstGeom>
          <a:solidFill>
            <a:srgbClr val="F2A93B"/>
          </a:solidFill>
          <a:ln/>
          <a:effectLst>
            <a:outerShdw blurRad="63500" dist="25400" dir="5400000" algn="bl" rotWithShape="0">
              <a:srgbClr val="5B5480">
                <a:alpha val="15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4768596" y="4800600"/>
            <a:ext cx="2651760" cy="56692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</a:t>
            </a:r>
            <a:endParaRPr lang="en-US" sz="125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lesson generation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6094476" y="4434840"/>
            <a:ext cx="0" cy="365760"/>
          </a:xfrm>
          <a:prstGeom prst="line">
            <a:avLst/>
          </a:prstGeom>
          <a:noFill/>
          <a:ln w="19050">
            <a:solidFill>
              <a:srgbClr val="6B6685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 flipH="1">
            <a:off x="7511796" y="4434840"/>
            <a:ext cx="1554480" cy="365760"/>
          </a:xfrm>
          <a:prstGeom prst="line">
            <a:avLst/>
          </a:prstGeom>
          <a:noFill/>
          <a:ln w="19050">
            <a:solidFill>
              <a:srgbClr val="6B6685"/>
            </a:solidFill>
            <a:prstDash val="solid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4727448" y="5806440"/>
            <a:ext cx="2743200" cy="566928"/>
          </a:xfrm>
          <a:prstGeom prst="roundRect">
            <a:avLst>
              <a:gd name="adj" fmla="val 12903"/>
            </a:avLst>
          </a:prstGeom>
          <a:solidFill>
            <a:srgbClr val="4FBFA8"/>
          </a:solidFill>
          <a:ln/>
          <a:effectLst>
            <a:outerShdw blurRad="63500" dist="25400" dir="5400000" algn="bl" rotWithShape="0">
              <a:srgbClr val="5B5480">
                <a:alpha val="15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4727448" y="5806440"/>
            <a:ext cx="2743200" cy="56692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Progress &amp; Next-Session Recos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6094476" y="5367528"/>
            <a:ext cx="4572" cy="438912"/>
          </a:xfrm>
          <a:prstGeom prst="line">
            <a:avLst/>
          </a:prstGeom>
          <a:noFill/>
          <a:ln w="19050">
            <a:solidFill>
              <a:srgbClr val="6B6685"/>
            </a:solidFill>
            <a:prstDash val="solid"/>
            <a:tailEnd type="triangle"/>
          </a:ln>
        </p:spPr>
      </p:sp>
      <p:sp>
        <p:nvSpPr>
          <p:cNvPr id="29" name="Text 27"/>
          <p:cNvSpPr/>
          <p:nvPr/>
        </p:nvSpPr>
        <p:spPr>
          <a:xfrm>
            <a:off x="11365992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66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9F8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128016" cy="128016"/>
          </a:xfrm>
          <a:prstGeom prst="ellipse">
            <a:avLst/>
          </a:prstGeom>
          <a:solidFill>
            <a:srgbClr val="4FBFA8"/>
          </a:solidFill>
          <a:ln/>
        </p:spPr>
      </p:sp>
      <p:sp>
        <p:nvSpPr>
          <p:cNvPr id="3" name="Shape 1"/>
          <p:cNvSpPr/>
          <p:nvPr/>
        </p:nvSpPr>
        <p:spPr>
          <a:xfrm>
            <a:off x="11521440" y="6263640"/>
            <a:ext cx="146304" cy="146304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5029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4FB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SAARTHI · PRODUCT PREVIEW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822960" y="77724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E2A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IT WILL LOOK LIKE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822960" y="132588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6B66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mockup of the volunteer dashboard — the target experience, not yet shipped functionality.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1915668" y="1673352"/>
            <a:ext cx="8357616" cy="4758799"/>
          </a:xfrm>
          <a:prstGeom prst="roundRect">
            <a:avLst>
              <a:gd name="adj" fmla="val 2306"/>
            </a:avLst>
          </a:prstGeom>
          <a:solidFill>
            <a:srgbClr val="FFFFFF"/>
          </a:solidFill>
          <a:ln/>
          <a:effectLst>
            <a:outerShdw blurRad="127000" dist="38100" dir="5400000" algn="bl" rotWithShape="0">
              <a:srgbClr val="5B5480">
                <a:alpha val="2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071116" y="1764792"/>
            <a:ext cx="100584" cy="100584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9" name="Shape 7"/>
          <p:cNvSpPr/>
          <p:nvPr/>
        </p:nvSpPr>
        <p:spPr>
          <a:xfrm>
            <a:off x="2272284" y="1764792"/>
            <a:ext cx="100584" cy="100584"/>
          </a:xfrm>
          <a:prstGeom prst="ellipse">
            <a:avLst/>
          </a:prstGeom>
          <a:solidFill>
            <a:srgbClr val="6C7FD8"/>
          </a:solidFill>
          <a:ln/>
        </p:spPr>
      </p:sp>
      <p:sp>
        <p:nvSpPr>
          <p:cNvPr id="10" name="Shape 8"/>
          <p:cNvSpPr/>
          <p:nvPr/>
        </p:nvSpPr>
        <p:spPr>
          <a:xfrm>
            <a:off x="2473452" y="1764792"/>
            <a:ext cx="100584" cy="100584"/>
          </a:xfrm>
          <a:prstGeom prst="ellipse">
            <a:avLst/>
          </a:prstGeom>
          <a:solidFill>
            <a:srgbClr val="4FBFA8"/>
          </a:solidFill>
          <a:ln/>
        </p:spPr>
      </p:sp>
      <p:pic>
        <p:nvPicPr>
          <p:cNvPr id="11" name="Image 0" descr="dashboard/dashboard_cropp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25396" y="1965960"/>
            <a:ext cx="8138160" cy="4301599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11365992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66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475720" y="502920"/>
            <a:ext cx="146304" cy="146304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3" name="Shape 1"/>
          <p:cNvSpPr/>
          <p:nvPr/>
        </p:nvSpPr>
        <p:spPr>
          <a:xfrm>
            <a:off x="11750040" y="868680"/>
            <a:ext cx="82296" cy="82296"/>
          </a:xfrm>
          <a:prstGeom prst="ellipse">
            <a:avLst/>
          </a:prstGeom>
          <a:solidFill>
            <a:srgbClr val="6C7FD8"/>
          </a:solidFill>
          <a:ln/>
        </p:spPr>
      </p:sp>
      <p:sp>
        <p:nvSpPr>
          <p:cNvPr id="4" name="Shape 2"/>
          <p:cNvSpPr/>
          <p:nvPr/>
        </p:nvSpPr>
        <p:spPr>
          <a:xfrm>
            <a:off x="411480" y="6355080"/>
            <a:ext cx="109728" cy="109728"/>
          </a:xfrm>
          <a:prstGeom prst="ellipse">
            <a:avLst/>
          </a:prstGeom>
          <a:solidFill>
            <a:srgbClr val="4FBFA8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5943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6C7F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FEW GLIMPSES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22960" y="86868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E2A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MOMENTS FROM MY SESSIONS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822960" y="146304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6B66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Teaching, encouraging and celebrating small wins, one session at a time.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630936" y="2194560"/>
            <a:ext cx="342900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4379976" y="2194560"/>
            <a:ext cx="342900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8129016" y="2194560"/>
            <a:ext cx="342900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11365992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66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A1615C7E-0A0D-8C18-E243-555768A470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1" y="2103120"/>
            <a:ext cx="4873316" cy="3654987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881D286D-8792-D7F4-60FB-557D89F23AF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4241" y="2056093"/>
            <a:ext cx="4815728" cy="3702014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640080"/>
            <a:ext cx="164592" cy="164592"/>
          </a:xfrm>
          <a:prstGeom prst="ellipse">
            <a:avLst/>
          </a:prstGeom>
          <a:solidFill>
            <a:srgbClr val="4FBFA8"/>
          </a:solidFill>
          <a:ln/>
        </p:spPr>
      </p:sp>
      <p:sp>
        <p:nvSpPr>
          <p:cNvPr id="3" name="Shape 1"/>
          <p:cNvSpPr/>
          <p:nvPr/>
        </p:nvSpPr>
        <p:spPr>
          <a:xfrm>
            <a:off x="1051560" y="1005840"/>
            <a:ext cx="91440" cy="91440"/>
          </a:xfrm>
          <a:prstGeom prst="ellipse">
            <a:avLst/>
          </a:prstGeom>
          <a:solidFill>
            <a:srgbClr val="6C7FD8"/>
          </a:solidFill>
          <a:ln/>
        </p:spPr>
      </p:sp>
      <p:sp>
        <p:nvSpPr>
          <p:cNvPr id="4" name="Shape 2"/>
          <p:cNvSpPr/>
          <p:nvPr/>
        </p:nvSpPr>
        <p:spPr>
          <a:xfrm>
            <a:off x="10972800" y="5669280"/>
            <a:ext cx="182880" cy="182880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5" name="Shape 3"/>
          <p:cNvSpPr/>
          <p:nvPr/>
        </p:nvSpPr>
        <p:spPr>
          <a:xfrm>
            <a:off x="10561320" y="6035040"/>
            <a:ext cx="100584" cy="100584"/>
          </a:xfrm>
          <a:prstGeom prst="ellipse">
            <a:avLst/>
          </a:prstGeom>
          <a:solidFill>
            <a:srgbClr val="6C7FD8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278892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2E2A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822960" y="356616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6C7F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Ray of Hope Charitable Trust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22960" y="40233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B66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Individual contribution, shared mission.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594</Words>
  <Application>Microsoft Office PowerPoint</Application>
  <PresentationFormat>Widescreen</PresentationFormat>
  <Paragraphs>103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Utkarsh Singh</cp:lastModifiedBy>
  <cp:revision>2</cp:revision>
  <dcterms:created xsi:type="dcterms:W3CDTF">2026-09-21T01:21:22Z</dcterms:created>
  <dcterms:modified xsi:type="dcterms:W3CDTF">2026-09-21T01:53:58Z</dcterms:modified>
</cp:coreProperties>
</file>